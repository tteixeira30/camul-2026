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34405-4A75-4B6A-AF29-9AAF8B487F78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E63448-1925-4EA9-81D2-EDE6D8E9D05F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63970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(Abertura comum do curso: 3 s, só música.)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Lembra-se do fim de tarde em que chegou o alerta de incêndio? [pausa] A Ana tem poucos minutos para sair com a mãe. Onde está a receita dos medicamentos? E os óculos? E a manta de que a D. Rosa tanto gosta? A Ana corre de gaveta em gaveta. E quanto mais pressa ela tem, mais agitada fica a mãe.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Numa emergência não há tempo para procurar a receita ou lembrar o que acalma a sua mãe. [pausa] Isso prepara-se hoje.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Nesta lição vai preparar três coisas: um kit para a pessoa de quem cuida, a ficha da pessoa e um plano de apoio para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Comece pelo kit: um saco leve, sempre no mesmo sítio, junto à porta de saída. Lá dentro: a medicação para alguns dias e as receitas; um documento com o diagnóstico e o seu contacto; uma fotografia recente, para o caso de a pessoa se perder; uma muda de roupa e calçado confortável; e os óculos ou o aparelho auditivo de reserva. [pausa] Há ainda uma coisa que só você sabe pôr no kit: o que a acalma. Lembra-se das três coisas que lhe dão segurança, da lição anterior? Uma manta, uma música, uma fotografia da família. Também vão para o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casa da D. Rosa, o que vai para o kit está espalhado: a medicação na cozinha, os documentos numa gaveta, a manta na cadeira da sala. Antes da crise, junte tudo num só sítio, junto à porta.</a:t>
            </a:r>
          </a:p>
          <a:p>
            <a:r>
              <a:t>(Narração provisória: ajustar à gravação da visita. Inserir → Vídeo, a ocupar o retângulo.)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Depois, a ficha da pessoa. Numa crise, outras pessoas podem ter de cuidar de quem você cuida: um bombeiro, um voluntário, um vizinho. A ficha diz-lhes, numa só folha, o que precisam de saber: os medicamentos e as horas, como a pessoa comunica, o que a acalma, o que a perturba e a quem ligar. [pausa] Afixe uma cópia no frigorífico e guarde outra no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fim, um plano para si. E se for a Ana a ficar doente, ou a ficar separada da mãe? [pausa] Escolha três pessoas a quem pode ligar e combine com uma delas quem fica com a pessoa se você não puder. Dê-lhe uma cópia da ficha. Tire fotografias aos documentos e guarde-as no telemóvel. E tenha à mão o 112 e o SNS 24. [pausa] Pedir ajuda também faz parte do plano.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Nem todas as crises obrigam a sair. Se ficar em casa, tenha água, comida, uma lanterna e a medicação à mão. Se tiver de sair, leve o kit e saiba para onde vai. [pausa] Nos dois casos, mantenha a rotina possível: as refeições, os medicamentos e o sono às mesmas horas.</a:t>
            </a:r>
          </a:p>
          <a:p>
            <a:r>
              <a:t>(Círculos: pôr ícones de casa, porta e relógio.)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kit junto à porta, a ficha da pessoa no frigorífico e um plano de apoio para si. O que prepara hoje poupa minutos, e medo, no dia da crise.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Mas, mesmo com tudo preparado, a crise pode deixar a pessoa em pânico. Na próxima lição, vamos ver o primeiro contacto: como a acalmar, e como se acalmar a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8C65D9-07EF-6DB4-FE31-589BC66B23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6DB1DB-900E-E90B-361F-5184A2D279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DE46B97-583F-1227-B457-A94060E6E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B4533C0-19B9-DBE7-B23E-5C328E2B0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2574ACA-9E8B-799F-5DAA-4E1053272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14446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D9059C-A7BC-3EA9-92B4-587C7A00B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2C587BD-9B7F-3AB1-DEDD-4DB2F9702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44FCE83-6909-AD72-D19A-EADCD079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957058E-AC53-CE4E-5023-5E2293CBE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DEBE882-0F17-C538-1DDC-6450DBCF5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01340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8F6E3A-AE6F-76F7-B73D-8AF21E6DC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68C7DCB6-2E33-7671-D4DF-D78F17AAD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EE1A1818-4FA9-AF96-8689-FC8986827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C248824-0DC3-E876-67F1-056C1886C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4A566C8-A6EB-C600-B9D0-B4A5EDE47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34568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A5C4B-EF93-E763-0016-BA4196FE0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75563FC-33AF-B25A-CA54-FF8C60EC9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3237F6E1-FDED-E8A8-2697-002F62682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95726289-8804-2F2D-88B8-7D021A87F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69669E8-9A28-9E87-FF1B-2186AA093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6146F733-D13D-5780-469C-F4727BCF2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6676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05054-AE12-173C-A366-69A4343F2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C24D2256-172F-5E72-2A8A-253C404B3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9836782-F334-9EE3-B9FA-6CEE8BEE35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024D8501-2FB3-9C91-636D-C2A9ED50E8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C0110D4A-DFCF-2CC0-D634-32DB8F9EA3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24C07AAF-AA8B-313C-DE5E-2FA7614E1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A445B4AE-88C8-3DF2-2164-86EC3BC4C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EDCA5A3A-76C6-35A1-7E0E-D995C1E3F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10863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0D533D-AA5B-D07C-CC8F-899F4FDED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AE7C116D-9337-E6D5-87DB-1890454B2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BDC38219-8285-C8EC-7CC4-8BA837CC6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367ADA4F-20AD-CCA6-09C6-F357E40A0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25940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BB1253D4-C020-C863-24A6-ADF53CAD6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D5ECC9E8-597C-C0FF-3CB5-430DCC705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2A20D655-F902-7CFF-95D3-22F0F7F58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83266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B72B6F-9847-E8E1-3E95-EC62CAA85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9C6D6DF-D5DF-8688-992C-E1C415FC0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3CDCDD90-1B38-7D64-D5C0-60E54BCB2A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478DF158-0E72-E24E-B9A5-9348B656F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0B5F1ABE-42EC-62DD-9799-2CFB1FFEC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56FA4B7D-2CE8-7A0B-04D3-ECD236C19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45398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4FE29F-6194-C510-9E60-61312DDDD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9965E576-F0B3-09A6-E170-C9C3FF2C1CA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CB48FFC3-6119-F8CB-4805-436C88800E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0C29C391-4920-7E8B-CCA5-96C23AD75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A519DEF8-5585-E861-A205-A4F8B35CC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EBA5F69E-CBC7-894E-B3C7-F87695683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74554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AC3E8C-BE00-C739-AF4F-6483D29F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202432FC-9075-8E19-4D64-666E30DB7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B684E011-AE47-A029-FE4D-E2B085003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3580606-B7F5-BE0D-6A00-D1C1AD196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29E6FFB-E3E9-3429-9DC3-49059DE13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78635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642D8E9-EE29-D51F-1AFF-ECB61E152C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A2B322A7-C366-6221-8CC5-F07397AE61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9A87E32-B99B-5F99-E7D7-F1768FFCB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84CA633-A64B-9897-749B-18079C7A6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C087368-2F36-229B-BE56-BA6E7A4E0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460370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DCC6B9A2-9717-ABF1-A3D8-49F8EBA4E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4E5C7534-842A-21AA-E318-4E857255E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FFCE2738-7FB7-9127-DFB2-57C1845F75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AB7C3F-A6D3-4F5F-B3B9-AF14B0EA8DC6}" type="datetimeFigureOut">
              <a:rPr lang="pt-PT" smtClean="0"/>
              <a:t>15/10/2026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A08F7C9-BD42-681E-E55F-049A9CCF7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570603C-D00B-B0FF-D91A-236D20D39D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274A7F-E3CE-4780-AEA3-954E0DC03B85}" type="slidenum">
              <a:rPr lang="pt-PT" smtClean="0"/>
              <a:t>‹nº›</a:t>
            </a:fld>
            <a:endParaRPr lang="pt-PT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DAC82E6-0D14-4F02-F6F4-593EDD399D26}"/>
              </a:ext>
            </a:extLst>
          </p:cNvPr>
          <p:cNvSpPr/>
          <p:nvPr userDrawn="1"/>
        </p:nvSpPr>
        <p:spPr>
          <a:xfrm>
            <a:off x="0" y="6705600"/>
            <a:ext cx="6096000" cy="152400"/>
          </a:xfrm>
          <a:prstGeom prst="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EEC9C83-B913-D848-277E-9E27A6D07621}"/>
              </a:ext>
            </a:extLst>
          </p:cNvPr>
          <p:cNvSpPr/>
          <p:nvPr userDrawn="1"/>
        </p:nvSpPr>
        <p:spPr>
          <a:xfrm>
            <a:off x="6096000" y="6705600"/>
            <a:ext cx="6096000" cy="152400"/>
          </a:xfrm>
          <a:prstGeom prst="rect">
            <a:avLst/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69DB8A7-4D2B-1104-6D77-86B95B5A01AC}"/>
              </a:ext>
            </a:extLst>
          </p:cNvPr>
          <p:cNvSpPr txBox="1"/>
          <p:nvPr userDrawn="1"/>
        </p:nvSpPr>
        <p:spPr>
          <a:xfrm>
            <a:off x="304800" y="6350000"/>
            <a:ext cx="762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9A9A9A"/>
                </a:solidFill>
                <a:latin typeface="Segoe UI" panose="020B0502040204020203" pitchFamily="34" charset="0"/>
              </a:rPr>
              <a:t>Cuidar em Crise  ·  L2 Preparar antes</a:t>
            </a:r>
          </a:p>
        </p:txBody>
      </p:sp>
    </p:spTree>
    <p:extLst>
      <p:ext uri="{BB962C8B-B14F-4D97-AF65-F5344CB8AC3E}">
        <p14:creationId xmlns:p14="http://schemas.microsoft.com/office/powerpoint/2010/main" val="4219591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ixaDeTexto 1">
            <a:extLst>
              <a:ext uri="{FF2B5EF4-FFF2-40B4-BE49-F238E27FC236}">
                <a16:creationId xmlns:a16="http://schemas.microsoft.com/office/drawing/2014/main" id="{AD0A60B8-7AED-641D-0EA2-1680C6A38071}"/>
              </a:ext>
            </a:extLst>
          </p:cNvPr>
          <p:cNvSpPr txBox="1"/>
          <p:nvPr/>
        </p:nvSpPr>
        <p:spPr>
          <a:xfrm>
            <a:off x="762000" y="1905000"/>
            <a:ext cx="10668000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5400" b="1">
                <a:solidFill>
                  <a:srgbClr val="34495E"/>
                </a:solidFill>
                <a:latin typeface="Segoe UI" panose="020B0502040204020203" pitchFamily="34" charset="0"/>
              </a:rPr>
              <a:t>Cuidar em Crise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624EBBA-5D70-8FC6-995D-310E19C4CE91}"/>
              </a:ext>
            </a:extLst>
          </p:cNvPr>
          <p:cNvSpPr txBox="1"/>
          <p:nvPr/>
        </p:nvSpPr>
        <p:spPr>
          <a:xfrm>
            <a:off x="1270000" y="2984500"/>
            <a:ext cx="9652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200">
                <a:solidFill>
                  <a:srgbClr val="2B2B2B"/>
                </a:solidFill>
                <a:latin typeface="Segoe UI" panose="020B0502040204020203" pitchFamily="34" charset="0"/>
              </a:rPr>
              <a:t>Primeiros socorros psicológicos para cuidadores de pessoas com demência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2B09296-AA00-14AC-F14C-C48CA7A4D98F}"/>
              </a:ext>
            </a:extLst>
          </p:cNvPr>
          <p:cNvSpPr/>
          <p:nvPr/>
        </p:nvSpPr>
        <p:spPr>
          <a:xfrm>
            <a:off x="3429000" y="4191000"/>
            <a:ext cx="5334000" cy="558800"/>
          </a:xfrm>
          <a:prstGeom prst="roundRect">
            <a:avLst/>
          </a:prstGeom>
          <a:solidFill>
            <a:srgbClr val="3449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>
                <a:solidFill>
                  <a:srgbClr val="FFFFFF"/>
                </a:solidFill>
                <a:latin typeface="Segoe UI" panose="020B0502040204020203" pitchFamily="34" charset="0"/>
              </a:rPr>
              <a:t>Lição 2 · Preparar antes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tângulo 1">
            <a:extLst>
              <a:ext uri="{FF2B5EF4-FFF2-40B4-BE49-F238E27FC236}">
                <a16:creationId xmlns:a16="http://schemas.microsoft.com/office/drawing/2014/main" id="{EDC0C51E-0F13-10B2-A043-6DD08399AD1C}"/>
              </a:ext>
            </a:extLst>
          </p:cNvPr>
          <p:cNvSpPr/>
          <p:nvPr/>
        </p:nvSpPr>
        <p:spPr>
          <a:xfrm>
            <a:off x="762000" y="508000"/>
            <a:ext cx="10668000" cy="533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A9A9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i="1">
                <a:solidFill>
                  <a:srgbClr val="9A9A9A"/>
                </a:solidFill>
                <a:latin typeface="Segoe UI" panose="020B0502040204020203" pitchFamily="34" charset="0"/>
              </a:rPr>
              <a:t>[Ilustração: a Ana a abrir gavetas, papéis espalhados; a D. Rosa na cadeira, inquieta; relógio no canto a avançar]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0D26F38-F55B-A504-EB2E-3BC19271C7CA}"/>
              </a:ext>
            </a:extLst>
          </p:cNvPr>
          <p:cNvSpPr/>
          <p:nvPr/>
        </p:nvSpPr>
        <p:spPr>
          <a:xfrm>
            <a:off x="1524000" y="5080000"/>
            <a:ext cx="1778000" cy="457200"/>
          </a:xfrm>
          <a:prstGeom prst="round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latin typeface="Segoe UI" panose="020B0502040204020203" pitchFamily="34" charset="0"/>
              </a:rPr>
              <a:t>D. Rosa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E5D7085-B417-52EF-44E0-A521F6B6CAA5}"/>
              </a:ext>
            </a:extLst>
          </p:cNvPr>
          <p:cNvSpPr/>
          <p:nvPr/>
        </p:nvSpPr>
        <p:spPr>
          <a:xfrm>
            <a:off x="8890000" y="5080000"/>
            <a:ext cx="1778000" cy="457200"/>
          </a:xfrm>
          <a:prstGeom prst="roundRect">
            <a:avLst/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latin typeface="Segoe UI" panose="020B0502040204020203" pitchFamily="34" charset="0"/>
              </a:rPr>
              <a:t>Ana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tângulo 1">
            <a:extLst>
              <a:ext uri="{FF2B5EF4-FFF2-40B4-BE49-F238E27FC236}">
                <a16:creationId xmlns:a16="http://schemas.microsoft.com/office/drawing/2014/main" id="{EA0EE958-006D-16F9-DAA9-361A3996E490}"/>
              </a:ext>
            </a:extLst>
          </p:cNvPr>
          <p:cNvSpPr/>
          <p:nvPr/>
        </p:nvSpPr>
        <p:spPr>
          <a:xfrm>
            <a:off x="762000" y="508000"/>
            <a:ext cx="6604000" cy="533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A9A9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i="1">
                <a:solidFill>
                  <a:srgbClr val="9A9A9A"/>
                </a:solidFill>
                <a:latin typeface="Segoe UI" panose="020B0502040204020203" pitchFamily="34" charset="0"/>
              </a:rPr>
              <a:t>[Ilustração: a mesma casa, calma, de dia; a Ana à mesa com um saco vazio]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6454E61-79E8-A20E-A647-C4F914718B84}"/>
              </a:ext>
            </a:extLst>
          </p:cNvPr>
          <p:cNvSpPr txBox="1"/>
          <p:nvPr/>
        </p:nvSpPr>
        <p:spPr>
          <a:xfrm>
            <a:off x="7747000" y="1905000"/>
            <a:ext cx="3937000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34495E"/>
                </a:solidFill>
                <a:latin typeface="Segoe UI" panose="020B0502040204020203" pitchFamily="34" charset="0"/>
              </a:rPr>
              <a:t>Isso prepara-se hoje.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FEA1CF1-E9C4-8529-56F5-19DBEE11AE6A}"/>
              </a:ext>
            </a:extLst>
          </p:cNvPr>
          <p:cNvSpPr/>
          <p:nvPr/>
        </p:nvSpPr>
        <p:spPr>
          <a:xfrm>
            <a:off x="9652000" y="4826000"/>
            <a:ext cx="1651000" cy="457200"/>
          </a:xfrm>
          <a:prstGeom prst="roundRect">
            <a:avLst/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solidFill>
                  <a:srgbClr val="FFFFFF"/>
                </a:solidFill>
                <a:latin typeface="Segoe UI" panose="020B0502040204020203" pitchFamily="34" charset="0"/>
              </a:rPr>
              <a:t>Ana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ixaDeTexto 1">
            <a:extLst>
              <a:ext uri="{FF2B5EF4-FFF2-40B4-BE49-F238E27FC236}">
                <a16:creationId xmlns:a16="http://schemas.microsoft.com/office/drawing/2014/main" id="{F219C920-49C3-75EC-6D93-03D4F368EA0A}"/>
              </a:ext>
            </a:extLst>
          </p:cNvPr>
          <p:cNvSpPr txBox="1"/>
          <p:nvPr/>
        </p:nvSpPr>
        <p:spPr>
          <a:xfrm>
            <a:off x="762000" y="1397000"/>
            <a:ext cx="10668000" cy="70788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4000" b="1">
                <a:solidFill>
                  <a:srgbClr val="34495E"/>
                </a:solidFill>
                <a:latin typeface="Segoe UI" panose="020B0502040204020203" pitchFamily="34" charset="0"/>
              </a:rPr>
              <a:t>L2 · Preparar antes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95B58E4-835E-6055-7C36-CF46E0BEB38E}"/>
              </a:ext>
            </a:extLst>
          </p:cNvPr>
          <p:cNvSpPr txBox="1"/>
          <p:nvPr/>
        </p:nvSpPr>
        <p:spPr>
          <a:xfrm>
            <a:off x="762000" y="2349500"/>
            <a:ext cx="10668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200">
                <a:solidFill>
                  <a:srgbClr val="2B2B2B"/>
                </a:solidFill>
                <a:latin typeface="Segoe UI" panose="020B0502040204020203" pitchFamily="34" charset="0"/>
              </a:rPr>
              <a:t>Três coisas a preparar antes da crise.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C4711C0-CB40-FD5E-C1A7-1465F907B81B}"/>
              </a:ext>
            </a:extLst>
          </p:cNvPr>
          <p:cNvSpPr/>
          <p:nvPr/>
        </p:nvSpPr>
        <p:spPr>
          <a:xfrm>
            <a:off x="2095500" y="3429000"/>
            <a:ext cx="1905000" cy="1905000"/>
          </a:xfrm>
          <a:prstGeom prst="ellipse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200">
                <a:solidFill>
                  <a:srgbClr val="9A9A9A"/>
                </a:solidFill>
                <a:latin typeface="Segoe UI" panose="020B0502040204020203" pitchFamily="34" charset="0"/>
              </a:rPr>
              <a:t>[ícone]</a:t>
            </a:r>
          </a:p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O kit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6BD1E07-9F59-E479-F27E-E3639973A99F}"/>
              </a:ext>
            </a:extLst>
          </p:cNvPr>
          <p:cNvSpPr/>
          <p:nvPr/>
        </p:nvSpPr>
        <p:spPr>
          <a:xfrm>
            <a:off x="5143500" y="3429000"/>
            <a:ext cx="1905000" cy="1905000"/>
          </a:xfrm>
          <a:prstGeom prst="ellipse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200">
                <a:solidFill>
                  <a:srgbClr val="9A9A9A"/>
                </a:solidFill>
                <a:latin typeface="Segoe UI" panose="020B0502040204020203" pitchFamily="34" charset="0"/>
              </a:rPr>
              <a:t>[ícone]</a:t>
            </a:r>
          </a:p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A ficha da pessoa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891B72-56AD-4B44-8412-915EA65F484D}"/>
              </a:ext>
            </a:extLst>
          </p:cNvPr>
          <p:cNvSpPr/>
          <p:nvPr/>
        </p:nvSpPr>
        <p:spPr>
          <a:xfrm>
            <a:off x="8191500" y="3429000"/>
            <a:ext cx="1905000" cy="1905000"/>
          </a:xfrm>
          <a:prstGeom prst="ellipse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200">
                <a:solidFill>
                  <a:srgbClr val="9A9A9A"/>
                </a:solidFill>
                <a:latin typeface="Segoe UI" panose="020B0502040204020203" pitchFamily="34" charset="0"/>
              </a:rPr>
              <a:t>[ícone]</a:t>
            </a:r>
          </a:p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O plano de apoio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tângulo 1">
            <a:extLst>
              <a:ext uri="{FF2B5EF4-FFF2-40B4-BE49-F238E27FC236}">
                <a16:creationId xmlns:a16="http://schemas.microsoft.com/office/drawing/2014/main" id="{EA0EE958-006D-16F9-DAA9-361A3996E490}"/>
              </a:ext>
            </a:extLst>
          </p:cNvPr>
          <p:cNvSpPr/>
          <p:nvPr/>
        </p:nvSpPr>
        <p:spPr>
          <a:xfrm>
            <a:off x="762000" y="508000"/>
            <a:ext cx="6604000" cy="533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A9A9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i="1">
                <a:solidFill>
                  <a:srgbClr val="9A9A9A"/>
                </a:solidFill>
                <a:latin typeface="Segoe UI" panose="020B0502040204020203" pitchFamily="34" charset="0"/>
              </a:rPr>
              <a:t>[Planos de pormenor filmados: os itens a entrar no saco, um a um — medicamentos e receita, cartão com o diagnóstico (fictício), fotografia, roupa e sapatos, óculos, manta]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6454E61-79E8-A20E-A647-C4F914718B84}"/>
              </a:ext>
            </a:extLst>
          </p:cNvPr>
          <p:cNvSpPr txBox="1"/>
          <p:nvPr/>
        </p:nvSpPr>
        <p:spPr>
          <a:xfrm>
            <a:off x="7747000" y="762000"/>
            <a:ext cx="3937000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34495E"/>
                </a:solidFill>
                <a:latin typeface="Segoe UI" panose="020B0502040204020203" pitchFamily="34" charset="0"/>
              </a:rPr>
              <a:t>O kit, junto à porta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Medicação e receitas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Diagnóstico e contacto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Fotografia recente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Roupa e calçado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Óculos ou aparelho auditivo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O que a acalma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361FDF64-C7E2-E5FB-F216-D377F03083B2}"/>
              </a:ext>
            </a:extLst>
          </p:cNvPr>
          <p:cNvSpPr/>
          <p:nvPr/>
        </p:nvSpPr>
        <p:spPr>
          <a:xfrm>
            <a:off x="7747000" y="4826000"/>
            <a:ext cx="1651000" cy="457200"/>
          </a:xfrm>
          <a:prstGeom prst="round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solidFill>
                  <a:srgbClr val="FFFFFF"/>
                </a:solidFill>
                <a:latin typeface="Segoe UI" panose="020B0502040204020203" pitchFamily="34" charset="0"/>
              </a:rPr>
              <a:t>D. Rosa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ixaDeTexto 1">
            <a:extLst>
              <a:ext uri="{FF2B5EF4-FFF2-40B4-BE49-F238E27FC236}">
                <a16:creationId xmlns:a16="http://schemas.microsoft.com/office/drawing/2014/main" id="{E046A301-0C6E-3EC4-7381-91C2DD87EF3D}"/>
              </a:ext>
            </a:extLst>
          </p:cNvPr>
          <p:cNvSpPr txBox="1"/>
          <p:nvPr/>
        </p:nvSpPr>
        <p:spPr>
          <a:xfrm>
            <a:off x="762000" y="508000"/>
            <a:ext cx="10668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200" b="1">
                <a:solidFill>
                  <a:srgbClr val="2F6DB5"/>
                </a:solidFill>
                <a:latin typeface="Segoe UI" panose="020B0502040204020203" pitchFamily="34" charset="0"/>
              </a:rPr>
              <a:t>Caça ao kit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3963CA37-7ABD-04D5-4FDA-99FF63787B32}"/>
              </a:ext>
            </a:extLst>
          </p:cNvPr>
          <p:cNvSpPr/>
          <p:nvPr/>
        </p:nvSpPr>
        <p:spPr>
          <a:xfrm>
            <a:off x="1397000" y="1397000"/>
            <a:ext cx="939800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6DB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000">
                <a:solidFill>
                  <a:srgbClr val="2F6DB5"/>
                </a:solidFill>
                <a:latin typeface="Segoe UI" panose="020B0502040204020203" pitchFamily="34" charset="0"/>
              </a:rPr>
              <a:t>[Visita 3D gravada · Matterport · ≈ 40 s]</a:t>
            </a:r>
          </a:p>
          <a:p>
            <a:pPr algn="ctr"/>
            <a:r>
              <a:rPr lang="pt-PT" sz="1600">
                <a:solidFill>
                  <a:srgbClr val="2F6DB5"/>
                </a:solidFill>
                <a:latin typeface="Segoe UI" panose="020B0502040204020203" pitchFamily="34" charset="0"/>
              </a:rPr>
              <a:t>Cozinha · Frigorífico · Sala · Quarto · Telefone · Porta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tângulo 1">
            <a:extLst>
              <a:ext uri="{FF2B5EF4-FFF2-40B4-BE49-F238E27FC236}">
                <a16:creationId xmlns:a16="http://schemas.microsoft.com/office/drawing/2014/main" id="{B4EE0E13-1131-FD96-7A1F-8B99E7BB1563}"/>
              </a:ext>
            </a:extLst>
          </p:cNvPr>
          <p:cNvSpPr/>
          <p:nvPr/>
        </p:nvSpPr>
        <p:spPr>
          <a:xfrm>
            <a:off x="0" y="0"/>
            <a:ext cx="6096000" cy="6705600"/>
          </a:xfrm>
          <a:prstGeom prst="rect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E21B324-4E87-2A1E-1482-4364997F34DA}"/>
              </a:ext>
            </a:extLst>
          </p:cNvPr>
          <p:cNvSpPr txBox="1"/>
          <p:nvPr/>
        </p:nvSpPr>
        <p:spPr>
          <a:xfrm>
            <a:off x="381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2F6DB5"/>
                </a:solidFill>
                <a:latin typeface="Segoe UI" panose="020B0502040204020203" pitchFamily="34" charset="0"/>
              </a:rPr>
              <a:t>A ficha da pessoa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3DEF6B1-4BBC-5A6C-CF9A-92C44C9EF414}"/>
              </a:ext>
            </a:extLst>
          </p:cNvPr>
          <p:cNvSpPr/>
          <p:nvPr/>
        </p:nvSpPr>
        <p:spPr>
          <a:xfrm>
            <a:off x="508000" y="1270000"/>
            <a:ext cx="5080000" cy="330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A9A9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i="1">
                <a:solidFill>
                  <a:srgbClr val="9A9A9A"/>
                </a:solidFill>
                <a:latin typeface="Segoe UI" panose="020B0502040204020203" pitchFamily="34" charset="0"/>
              </a:rPr>
              <a:t>[Ilustração: a Ana a preencher a ficha; os campos acendem-se um a um; no fim, a ficha no frigorífico e uma cópia no saco]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8AB0DBD-B979-3B0C-B0A0-02C8CDF1694C}"/>
              </a:ext>
            </a:extLst>
          </p:cNvPr>
          <p:cNvSpPr txBox="1"/>
          <p:nvPr/>
        </p:nvSpPr>
        <p:spPr>
          <a:xfrm>
            <a:off x="381000" y="4953000"/>
            <a:ext cx="5334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O que acalma  ·  O que perturba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3725BC4-91D2-1364-4C20-075A9020AE16}"/>
              </a:ext>
            </a:extLst>
          </p:cNvPr>
          <p:cNvSpPr/>
          <p:nvPr/>
        </p:nvSpPr>
        <p:spPr>
          <a:xfrm>
            <a:off x="6096000" y="0"/>
            <a:ext cx="6096000" cy="6705600"/>
          </a:xfrm>
          <a:prstGeom prst="rect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0AF621D-AA43-A72E-575D-B88C546D0C33}"/>
              </a:ext>
            </a:extLst>
          </p:cNvPr>
          <p:cNvSpPr txBox="1"/>
          <p:nvPr/>
        </p:nvSpPr>
        <p:spPr>
          <a:xfrm>
            <a:off x="6477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9A9A9A"/>
                </a:solidFill>
                <a:latin typeface="Segoe UI" panose="020B0502040204020203" pitchFamily="34" charset="0"/>
              </a:rPr>
              <a:t>Quem cuida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tângulo 1">
            <a:extLst>
              <a:ext uri="{FF2B5EF4-FFF2-40B4-BE49-F238E27FC236}">
                <a16:creationId xmlns:a16="http://schemas.microsoft.com/office/drawing/2014/main" id="{A71A0DFF-107A-7754-3934-89714CB6E31F}"/>
              </a:ext>
            </a:extLst>
          </p:cNvPr>
          <p:cNvSpPr/>
          <p:nvPr/>
        </p:nvSpPr>
        <p:spPr>
          <a:xfrm>
            <a:off x="0" y="0"/>
            <a:ext cx="6096000" cy="6705600"/>
          </a:xfrm>
          <a:prstGeom prst="rect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6D5D90D-BF51-19BA-8C3F-8CEA90DD65DB}"/>
              </a:ext>
            </a:extLst>
          </p:cNvPr>
          <p:cNvSpPr txBox="1"/>
          <p:nvPr/>
        </p:nvSpPr>
        <p:spPr>
          <a:xfrm>
            <a:off x="381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9A9A9A"/>
                </a:solidFill>
                <a:latin typeface="Segoe UI" panose="020B0502040204020203" pitchFamily="34" charset="0"/>
              </a:rPr>
              <a:t>A pessoa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0252223-0D5A-57AF-120D-C84BCEAB0516}"/>
              </a:ext>
            </a:extLst>
          </p:cNvPr>
          <p:cNvSpPr/>
          <p:nvPr/>
        </p:nvSpPr>
        <p:spPr>
          <a:xfrm>
            <a:off x="6096000" y="0"/>
            <a:ext cx="6096000" cy="6705600"/>
          </a:xfrm>
          <a:prstGeom prst="rect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EA8C3B2-609A-C9A8-1F27-15CE7B12E329}"/>
              </a:ext>
            </a:extLst>
          </p:cNvPr>
          <p:cNvSpPr txBox="1"/>
          <p:nvPr/>
        </p:nvSpPr>
        <p:spPr>
          <a:xfrm>
            <a:off x="6477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E07B2E"/>
                </a:solidFill>
                <a:latin typeface="Segoe UI" panose="020B0502040204020203" pitchFamily="34" charset="0"/>
              </a:rPr>
              <a:t>Um plano para si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4749D3D5-3629-5522-6A40-514509EA6A76}"/>
              </a:ext>
            </a:extLst>
          </p:cNvPr>
          <p:cNvSpPr/>
          <p:nvPr/>
        </p:nvSpPr>
        <p:spPr>
          <a:xfrm>
            <a:off x="6604000" y="1270000"/>
            <a:ext cx="5080000" cy="330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9A9A9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i="1">
                <a:solidFill>
                  <a:srgbClr val="9A9A9A"/>
                </a:solidFill>
                <a:latin typeface="Segoe UI" panose="020B0502040204020203" pitchFamily="34" charset="0"/>
              </a:rPr>
              <a:t>[Ilustração: a Ana ao telefone; 3 contactos à volta dela, um marcado «substituto»]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8664687-7503-C8AE-0614-86B482493817}"/>
              </a:ext>
            </a:extLst>
          </p:cNvPr>
          <p:cNvSpPr txBox="1"/>
          <p:nvPr/>
        </p:nvSpPr>
        <p:spPr>
          <a:xfrm>
            <a:off x="6477000" y="4953000"/>
            <a:ext cx="5334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3 contactos  ·  Substituto  ·  112 e SNS 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ixaDeTexto 1">
            <a:extLst>
              <a:ext uri="{FF2B5EF4-FFF2-40B4-BE49-F238E27FC236}">
                <a16:creationId xmlns:a16="http://schemas.microsoft.com/office/drawing/2014/main" id="{02CDE6F8-9A3F-5718-E1EA-69C347AE8AB6}"/>
              </a:ext>
            </a:extLst>
          </p:cNvPr>
          <p:cNvSpPr txBox="1"/>
          <p:nvPr/>
        </p:nvSpPr>
        <p:spPr>
          <a:xfrm>
            <a:off x="762000" y="381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Ficar ou sair?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5571022-AC42-EE0E-D08C-F7429428B7DF}"/>
              </a:ext>
            </a:extLst>
          </p:cNvPr>
          <p:cNvSpPr txBox="1"/>
          <p:nvPr/>
        </p:nvSpPr>
        <p:spPr>
          <a:xfrm>
            <a:off x="762000" y="1016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Nem todas as crises obrigam a sair.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6DD61C3D-2E22-65B2-6692-80078C05DAD1}"/>
              </a:ext>
            </a:extLst>
          </p:cNvPr>
          <p:cNvGrpSpPr/>
          <p:nvPr/>
        </p:nvGrpSpPr>
        <p:grpSpPr>
          <a:xfrm>
            <a:off x="889000" y="1778000"/>
            <a:ext cx="3048000" cy="3810000"/>
            <a:chOff x="889000" y="1778000"/>
            <a:chExt cx="3048000" cy="3810000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02E18311-0C57-3300-2915-F3CF0D6AB028}"/>
                </a:ext>
              </a:extLst>
            </p:cNvPr>
            <p:cNvSpPr/>
            <p:nvPr/>
          </p:nvSpPr>
          <p:spPr>
            <a:xfrm>
              <a:off x="889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B6327B1-F986-D0B0-1A69-A9E946968218}"/>
                </a:ext>
              </a:extLst>
            </p:cNvPr>
            <p:cNvSpPr/>
            <p:nvPr/>
          </p:nvSpPr>
          <p:spPr>
            <a:xfrm>
              <a:off x="2032000" y="2032000"/>
              <a:ext cx="762000" cy="762000"/>
            </a:xfrm>
            <a:prstGeom prst="ellipse">
              <a:avLst/>
            </a:prstGeom>
            <a:solidFill>
              <a:srgbClr val="2F6DB5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sz="2600" b="1">
                  <a:solidFill>
                    <a:srgbClr val="FFFFFF"/>
                  </a:solidFill>
                  <a:latin typeface="Segoe UI" panose="020B0502040204020203" pitchFamily="34" charset="0"/>
                </a:rPr>
                <a:t/>
              </a:r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A17D0EBA-250D-743D-DF76-9DBBC8A68BF1}"/>
                </a:ext>
              </a:extLst>
            </p:cNvPr>
            <p:cNvSpPr txBox="1"/>
            <p:nvPr/>
          </p:nvSpPr>
          <p:spPr>
            <a:xfrm>
              <a:off x="889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Ficar em casa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61EEA7BF-4FEA-8736-0388-2321EA24B0E7}"/>
                </a:ext>
              </a:extLst>
            </p:cNvPr>
            <p:cNvSpPr txBox="1"/>
            <p:nvPr/>
          </p:nvSpPr>
          <p:spPr>
            <a:xfrm>
              <a:off x="1079500" y="3619500"/>
              <a:ext cx="2667000" cy="61555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Água, comida, lanterna e medicação à mão.</a:t>
              </a:r>
            </a:p>
          </p:txBody>
        </p:sp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AB4F072C-8982-16DD-D113-DD4DC8F440A3}"/>
              </a:ext>
            </a:extLst>
          </p:cNvPr>
          <p:cNvGrpSpPr/>
          <p:nvPr/>
        </p:nvGrpSpPr>
        <p:grpSpPr>
          <a:xfrm>
            <a:off x="4572000" y="1778000"/>
            <a:ext cx="3048000" cy="3810000"/>
            <a:chOff x="4572000" y="1778000"/>
            <a:chExt cx="3048000" cy="3810000"/>
          </a:xfrm>
        </p:grpSpPr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32B91080-FDFE-5319-6A22-4A8C1481983F}"/>
                </a:ext>
              </a:extLst>
            </p:cNvPr>
            <p:cNvSpPr/>
            <p:nvPr/>
          </p:nvSpPr>
          <p:spPr>
            <a:xfrm>
              <a:off x="4572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7F096C3-C2A9-9901-AB80-9AFA364C41FB}"/>
                </a:ext>
              </a:extLst>
            </p:cNvPr>
            <p:cNvSpPr/>
            <p:nvPr/>
          </p:nvSpPr>
          <p:spPr>
            <a:xfrm>
              <a:off x="5715000" y="2032000"/>
              <a:ext cx="762000" cy="762000"/>
            </a:xfrm>
            <a:prstGeom prst="ellipse">
              <a:avLst/>
            </a:prstGeom>
            <a:solidFill>
              <a:srgbClr val="2F6DB5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sz="2600" b="1">
                  <a:solidFill>
                    <a:srgbClr val="FFFFFF"/>
                  </a:solidFill>
                  <a:latin typeface="Segoe UI" panose="020B0502040204020203" pitchFamily="34" charset="0"/>
                </a:rPr>
                <a:t/>
              </a:r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96DFE093-891C-DB2B-6F55-72B8C150470D}"/>
                </a:ext>
              </a:extLst>
            </p:cNvPr>
            <p:cNvSpPr txBox="1"/>
            <p:nvPr/>
          </p:nvSpPr>
          <p:spPr>
            <a:xfrm>
              <a:off x="4572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Sair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E925F865-BC24-6A58-7FC6-77E8A3BFEE5D}"/>
                </a:ext>
              </a:extLst>
            </p:cNvPr>
            <p:cNvSpPr txBox="1"/>
            <p:nvPr/>
          </p:nvSpPr>
          <p:spPr>
            <a:xfrm>
              <a:off x="4762500" y="3619500"/>
              <a:ext cx="2667000" cy="61555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Levar o kit e saber para onde vai.</a:t>
              </a:r>
            </a:p>
          </p:txBody>
        </p:sp>
      </p:grp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B6907F6A-DF65-E25B-7C50-7C610351CC39}"/>
              </a:ext>
            </a:extLst>
          </p:cNvPr>
          <p:cNvGrpSpPr/>
          <p:nvPr/>
        </p:nvGrpSpPr>
        <p:grpSpPr>
          <a:xfrm>
            <a:off x="8255000" y="1778000"/>
            <a:ext cx="3048000" cy="3810000"/>
            <a:chOff x="8255000" y="1778000"/>
            <a:chExt cx="3048000" cy="3810000"/>
          </a:xfrm>
        </p:grpSpPr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D2B19BD6-2489-750B-F549-E3149B7D369C}"/>
                </a:ext>
              </a:extLst>
            </p:cNvPr>
            <p:cNvSpPr/>
            <p:nvPr/>
          </p:nvSpPr>
          <p:spPr>
            <a:xfrm>
              <a:off x="8255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FF624B2-FFD2-6FD2-E09E-67EE444AE575}"/>
                </a:ext>
              </a:extLst>
            </p:cNvPr>
            <p:cNvSpPr/>
            <p:nvPr/>
          </p:nvSpPr>
          <p:spPr>
            <a:xfrm>
              <a:off x="9398000" y="2032000"/>
              <a:ext cx="762000" cy="762000"/>
            </a:xfrm>
            <a:prstGeom prst="ellipse">
              <a:avLst/>
            </a:prstGeom>
            <a:solidFill>
              <a:srgbClr val="E07B2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sz="2600" b="1">
                  <a:solidFill>
                    <a:srgbClr val="FFFFFF"/>
                  </a:solidFill>
                  <a:latin typeface="Segoe UI" panose="020B0502040204020203" pitchFamily="34" charset="0"/>
                </a:rPr>
                <a:t/>
              </a:r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376D1719-F887-F000-FA24-D01E3232A915}"/>
                </a:ext>
              </a:extLst>
            </p:cNvPr>
            <p:cNvSpPr txBox="1"/>
            <p:nvPr/>
          </p:nvSpPr>
          <p:spPr>
            <a:xfrm>
              <a:off x="8255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Nos dois casos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2311BE30-5CF0-2239-C80E-217A0669FAE8}"/>
                </a:ext>
              </a:extLst>
            </p:cNvPr>
            <p:cNvSpPr txBox="1"/>
            <p:nvPr/>
          </p:nvSpPr>
          <p:spPr>
            <a:xfrm>
              <a:off x="8445500" y="3619500"/>
              <a:ext cx="2667000" cy="61555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Refeições, medicamentos e sono às mesmas horas.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ixaDeTexto 1">
            <a:extLst>
              <a:ext uri="{FF2B5EF4-FFF2-40B4-BE49-F238E27FC236}">
                <a16:creationId xmlns:a16="http://schemas.microsoft.com/office/drawing/2014/main" id="{0829D6D9-49C5-F8BB-486B-67F57B098316}"/>
              </a:ext>
            </a:extLst>
          </p:cNvPr>
          <p:cNvSpPr txBox="1"/>
          <p:nvPr/>
        </p:nvSpPr>
        <p:spPr>
          <a:xfrm>
            <a:off x="762000" y="635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Em resumo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A42AEC2-929C-4FFE-5E67-8A54458645D4}"/>
              </a:ext>
            </a:extLst>
          </p:cNvPr>
          <p:cNvSpPr/>
          <p:nvPr/>
        </p:nvSpPr>
        <p:spPr>
          <a:xfrm>
            <a:off x="1778000" y="1778000"/>
            <a:ext cx="8636000" cy="889000"/>
          </a:xfrm>
          <a:prstGeom prst="roundRect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200" b="1">
                <a:solidFill>
                  <a:srgbClr val="2F6DB5"/>
                </a:solidFill>
                <a:latin typeface="Segoe UI" panose="020B0502040204020203" pitchFamily="34" charset="0"/>
              </a:rPr>
              <a:t>O kit junto à porta e a ficha no frigorífico.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B70663AF-9A24-11AC-5BA9-19F724A3A6F4}"/>
              </a:ext>
            </a:extLst>
          </p:cNvPr>
          <p:cNvSpPr/>
          <p:nvPr/>
        </p:nvSpPr>
        <p:spPr>
          <a:xfrm>
            <a:off x="1778000" y="2921000"/>
            <a:ext cx="8636000" cy="889000"/>
          </a:xfrm>
          <a:prstGeom prst="roundRect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200" b="1">
                <a:solidFill>
                  <a:srgbClr val="E07B2E"/>
                </a:solidFill>
                <a:latin typeface="Segoe UI" panose="020B0502040204020203" pitchFamily="34" charset="0"/>
              </a:rPr>
              <a:t>Um plano de apoio e quem fica no seu lugar.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347A76B-50A2-A3F0-C954-9400452FA9FA}"/>
              </a:ext>
            </a:extLst>
          </p:cNvPr>
          <p:cNvSpPr txBox="1"/>
          <p:nvPr/>
        </p:nvSpPr>
        <p:spPr>
          <a:xfrm>
            <a:off x="762000" y="43180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400">
                <a:solidFill>
                  <a:srgbClr val="34495E"/>
                </a:solidFill>
                <a:latin typeface="Segoe UI" panose="020B0502040204020203" pitchFamily="34" charset="0"/>
              </a:rPr>
              <a:t>O que prepara hoje poupa minutos, e medo, no dia da crise.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ixaDeTexto 1">
            <a:extLst>
              <a:ext uri="{FF2B5EF4-FFF2-40B4-BE49-F238E27FC236}">
                <a16:creationId xmlns:a16="http://schemas.microsoft.com/office/drawing/2014/main" id="{F97E0EC2-E6B3-72E0-10CC-22B5F357D892}"/>
              </a:ext>
            </a:extLst>
          </p:cNvPr>
          <p:cNvSpPr txBox="1"/>
          <p:nvPr/>
        </p:nvSpPr>
        <p:spPr>
          <a:xfrm>
            <a:off x="762000" y="508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O caminho do curso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F877154-B11B-A2B8-7969-CEF36DFD6AC9}"/>
              </a:ext>
            </a:extLst>
          </p:cNvPr>
          <p:cNvSpPr/>
          <p:nvPr/>
        </p:nvSpPr>
        <p:spPr>
          <a:xfrm>
            <a:off x="508000" y="2032000"/>
            <a:ext cx="2032000" cy="2540000"/>
          </a:xfrm>
          <a:prstGeom prst="roundRect">
            <a:avLst/>
          </a:prstGeom>
          <a:solidFill>
            <a:srgbClr val="ECEAE6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9A9A9A"/>
                </a:solidFill>
                <a:latin typeface="Segoe UI" panose="020B0502040204020203" pitchFamily="34" charset="0"/>
              </a:rPr>
              <a:t>L1</a:t>
            </a:r>
          </a:p>
          <a:p>
            <a:pPr algn="ctr"/>
            <a:r>
              <a:rPr lang="pt-PT" sz="1500">
                <a:solidFill>
                  <a:srgbClr val="9A9A9A"/>
                </a:solidFill>
                <a:latin typeface="Segoe UI" panose="020B0502040204020203" pitchFamily="34" charset="0"/>
              </a:rPr>
              <a:t>Crise, demência e quem cuida</a:t>
            </a:r>
          </a:p>
          <a:p>
            <a:pPr algn="ctr"/>
            <a:r>
              <a:rPr lang="pt-PT" sz="1300" i="1">
                <a:solidFill>
                  <a:srgbClr val="9A9A9A"/>
                </a:solidFill>
                <a:latin typeface="Segoe UI" panose="020B0502040204020203" pitchFamily="34" charset="0"/>
              </a:rPr>
              <a:t>Compreender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B73A106-A9E9-B151-573F-E7B503A66969}"/>
              </a:ext>
            </a:extLst>
          </p:cNvPr>
          <p:cNvSpPr/>
          <p:nvPr/>
        </p:nvSpPr>
        <p:spPr>
          <a:xfrm>
            <a:off x="2794000" y="2032000"/>
            <a:ext cx="2032000" cy="2540000"/>
          </a:xfrm>
          <a:prstGeom prst="roundRect">
            <a:avLst/>
          </a:prstGeom>
          <a:solidFill>
            <a:srgbClr val="ECEAE6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9A9A9A"/>
                </a:solidFill>
                <a:latin typeface="Segoe UI" panose="020B0502040204020203" pitchFamily="34" charset="0"/>
              </a:rPr>
              <a:t>L2</a:t>
            </a:r>
          </a:p>
          <a:p>
            <a:pPr algn="ctr"/>
            <a:r>
              <a:rPr lang="pt-PT" sz="1500">
                <a:solidFill>
                  <a:srgbClr val="9A9A9A"/>
                </a:solidFill>
                <a:latin typeface="Segoe UI" panose="020B0502040204020203" pitchFamily="34" charset="0"/>
              </a:rPr>
              <a:t>Preparar antes</a:t>
            </a:r>
          </a:p>
          <a:p>
            <a:pPr algn="ctr"/>
            <a:r>
              <a:rPr lang="pt-PT" sz="1300" i="1">
                <a:solidFill>
                  <a:srgbClr val="9A9A9A"/>
                </a:solidFill>
                <a:latin typeface="Segoe UI" panose="020B0502040204020203" pitchFamily="34" charset="0"/>
              </a:rPr>
              <a:t>Antes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4ACC80A-077E-5756-AD4F-A50D06CDDA1C}"/>
              </a:ext>
            </a:extLst>
          </p:cNvPr>
          <p:cNvSpPr/>
          <p:nvPr/>
        </p:nvSpPr>
        <p:spPr>
          <a:xfrm>
            <a:off x="5080000" y="2032000"/>
            <a:ext cx="2032000" cy="2540000"/>
          </a:xfrm>
          <a:prstGeom prst="roundRect">
            <a:avLst/>
          </a:prstGeom>
          <a:solidFill>
            <a:srgbClr val="34495E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L3</a:t>
            </a:r>
          </a:p>
          <a:p>
            <a:pPr algn="ctr"/>
            <a:r>
              <a:rPr lang="pt-PT" sz="1500">
                <a:solidFill>
                  <a:srgbClr val="FFFFFF"/>
                </a:solidFill>
                <a:latin typeface="Segoe UI" panose="020B0502040204020203" pitchFamily="34" charset="0"/>
              </a:rPr>
              <a:t>Primeiro contacto: acalmar</a:t>
            </a:r>
          </a:p>
          <a:p>
            <a:pPr algn="ctr"/>
            <a:r>
              <a:rPr lang="pt-PT" sz="1300" i="1">
                <a:solidFill>
                  <a:srgbClr val="FFFFFF"/>
                </a:solidFill>
                <a:latin typeface="Segoe UI" panose="020B0502040204020203" pitchFamily="34" charset="0"/>
              </a:rPr>
              <a:t>Durante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1E84FDB9-83B3-E23F-37EB-DDCA4D7DE0A7}"/>
              </a:ext>
            </a:extLst>
          </p:cNvPr>
          <p:cNvSpPr/>
          <p:nvPr/>
        </p:nvSpPr>
        <p:spPr>
          <a:xfrm>
            <a:off x="7366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L4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Necessidades e encaminhamento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Durante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009CB0BC-A459-9CA5-0AF8-7D2B49D64847}"/>
              </a:ext>
            </a:extLst>
          </p:cNvPr>
          <p:cNvSpPr/>
          <p:nvPr/>
        </p:nvSpPr>
        <p:spPr>
          <a:xfrm>
            <a:off x="9652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L5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Depois da crise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Depois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FD97B23-05FC-A373-3472-9D8A19E1AB5E}"/>
              </a:ext>
            </a:extLst>
          </p:cNvPr>
          <p:cNvSpPr txBox="1"/>
          <p:nvPr/>
        </p:nvSpPr>
        <p:spPr>
          <a:xfrm>
            <a:off x="762000" y="50800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400" b="1">
                <a:solidFill>
                  <a:srgbClr val="34495E"/>
                </a:solidFill>
                <a:latin typeface="Segoe UI" panose="020B0502040204020203" pitchFamily="34" charset="0"/>
              </a:rPr>
              <a:t>A seguir: L3 · Primeiro contacto: acalmar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479</Words>
  <Application>Microsoft Office PowerPoint</Application>
  <PresentationFormat>Personalizados</PresentationFormat>
  <Paragraphs>84</Paragraphs>
  <Slides>10</Slides>
  <Notes>10</Notes>
  <HiddenSlides>1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Segoe UI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Bruno Lopes - BIMMS</dc:creator>
  <cp:lastModifiedBy>Bruno Lopes - BIMMS</cp:lastModifiedBy>
  <cp:revision>1</cp:revision>
  <dcterms:created xsi:type="dcterms:W3CDTF">2026-10-15T13:02:25Z</dcterms:created>
  <dcterms:modified xsi:type="dcterms:W3CDTF">2026-10-15T13:02:25Z</dcterms:modified>
</cp:coreProperties>
</file>