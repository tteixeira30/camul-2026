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36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34405-4A75-4B6A-AF29-9AAF8B487F78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63448-1925-4EA9-81D2-EDE6D8E9D0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39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</a:t>
            </a:r>
            <a:r>
              <a:rPr dirty="0" err="1"/>
              <a:t>Abertura</a:t>
            </a:r>
            <a:r>
              <a:rPr dirty="0"/>
              <a:t> </a:t>
            </a:r>
            <a:r>
              <a:rPr dirty="0" err="1"/>
              <a:t>comum</a:t>
            </a:r>
            <a:r>
              <a:rPr dirty="0"/>
              <a:t> do </a:t>
            </a:r>
            <a:r>
              <a:rPr dirty="0" err="1"/>
              <a:t>curso</a:t>
            </a:r>
            <a:r>
              <a:rPr dirty="0"/>
              <a:t>: 3 s,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música</a:t>
            </a:r>
            <a:r>
              <a:rPr dirty="0"/>
              <a:t>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Lembra-se do fim de tarde em que chegou o alerta de incêndio? [pausa] A Ana tem poucos minutos para sair com a mãe. Onde está a receita dos medicamentos? E os óculos? E a manta de que a D. Rosa tanto gosta? A Ana corre de gaveta em gaveta. E quanto mais pressa ela tem, mais agitada fica a mãe.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Numa emergência não há tempo para procurar a receita ou lembrar o que acalma a sua mãe. [pausa] Isso prepara-se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Nesta lição vai preparar três coisas: um kit para a pessoa de quem cuida, a ficha da pessoa e um plano de apoio para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Comece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kit: um </a:t>
            </a:r>
            <a:r>
              <a:rPr dirty="0" err="1"/>
              <a:t>saco</a:t>
            </a:r>
            <a:r>
              <a:rPr dirty="0"/>
              <a:t> </a:t>
            </a:r>
            <a:r>
              <a:rPr dirty="0" err="1"/>
              <a:t>leve</a:t>
            </a:r>
            <a:r>
              <a:rPr dirty="0"/>
              <a:t>, sempre no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sítio</a:t>
            </a:r>
            <a:r>
              <a:rPr dirty="0"/>
              <a:t>, junto à porta de </a:t>
            </a:r>
            <a:r>
              <a:rPr dirty="0" err="1"/>
              <a:t>saída</a:t>
            </a:r>
            <a:r>
              <a:rPr dirty="0"/>
              <a:t>. Lá </a:t>
            </a:r>
            <a:r>
              <a:rPr dirty="0" err="1"/>
              <a:t>dentro</a:t>
            </a:r>
            <a:r>
              <a:rPr dirty="0"/>
              <a:t>: a </a:t>
            </a:r>
            <a:r>
              <a:rPr dirty="0" err="1"/>
              <a:t>medicação</a:t>
            </a:r>
            <a:r>
              <a:rPr dirty="0"/>
              <a:t> para </a:t>
            </a:r>
            <a:r>
              <a:rPr dirty="0" err="1"/>
              <a:t>alguns</a:t>
            </a:r>
            <a:r>
              <a:rPr dirty="0"/>
              <a:t> </a:t>
            </a:r>
            <a:r>
              <a:rPr dirty="0" err="1"/>
              <a:t>dias</a:t>
            </a:r>
            <a:r>
              <a:rPr dirty="0"/>
              <a:t> e as </a:t>
            </a:r>
            <a:r>
              <a:rPr dirty="0" err="1"/>
              <a:t>receitas</a:t>
            </a:r>
            <a:r>
              <a:rPr dirty="0"/>
              <a:t>; um </a:t>
            </a:r>
            <a:r>
              <a:rPr dirty="0" err="1"/>
              <a:t>documento</a:t>
            </a:r>
            <a:r>
              <a:rPr dirty="0"/>
              <a:t> com o </a:t>
            </a:r>
            <a:r>
              <a:rPr dirty="0" err="1"/>
              <a:t>diagnóstico</a:t>
            </a:r>
            <a:r>
              <a:rPr dirty="0"/>
              <a:t> e 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contacto</a:t>
            </a:r>
            <a:r>
              <a:rPr dirty="0"/>
              <a:t>;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fotografia</a:t>
            </a:r>
            <a:r>
              <a:rPr dirty="0"/>
              <a:t> </a:t>
            </a:r>
            <a:r>
              <a:rPr dirty="0" err="1"/>
              <a:t>recente</a:t>
            </a:r>
            <a:r>
              <a:rPr dirty="0"/>
              <a:t>, para o </a:t>
            </a:r>
            <a:r>
              <a:rPr dirty="0" err="1"/>
              <a:t>caso</a:t>
            </a:r>
            <a:r>
              <a:rPr dirty="0"/>
              <a:t> de a </a:t>
            </a:r>
            <a:r>
              <a:rPr dirty="0" err="1"/>
              <a:t>pessoa</a:t>
            </a:r>
            <a:r>
              <a:rPr dirty="0"/>
              <a:t> se </a:t>
            </a:r>
            <a:r>
              <a:rPr dirty="0" err="1"/>
              <a:t>perder</a:t>
            </a:r>
            <a:r>
              <a:rPr dirty="0"/>
              <a:t>;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muda</a:t>
            </a:r>
            <a:r>
              <a:rPr dirty="0"/>
              <a:t> de </a:t>
            </a:r>
            <a:r>
              <a:rPr dirty="0" err="1"/>
              <a:t>roupa</a:t>
            </a:r>
            <a:r>
              <a:rPr dirty="0"/>
              <a:t> e </a:t>
            </a:r>
            <a:r>
              <a:rPr dirty="0" err="1"/>
              <a:t>calçado</a:t>
            </a:r>
            <a:r>
              <a:rPr dirty="0"/>
              <a:t> </a:t>
            </a:r>
            <a:r>
              <a:rPr dirty="0" err="1"/>
              <a:t>confortável</a:t>
            </a:r>
            <a:r>
              <a:rPr dirty="0"/>
              <a:t>; 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óculos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o </a:t>
            </a:r>
            <a:r>
              <a:rPr dirty="0" err="1"/>
              <a:t>aparelho</a:t>
            </a:r>
            <a:r>
              <a:rPr dirty="0"/>
              <a:t> </a:t>
            </a:r>
            <a:r>
              <a:rPr dirty="0" err="1"/>
              <a:t>auditivo</a:t>
            </a:r>
            <a:r>
              <a:rPr dirty="0"/>
              <a:t> de </a:t>
            </a:r>
            <a:r>
              <a:rPr dirty="0" err="1"/>
              <a:t>reserva</a:t>
            </a:r>
            <a:r>
              <a:rPr dirty="0"/>
              <a:t>. [pausa] </a:t>
            </a:r>
            <a:r>
              <a:rPr dirty="0" err="1"/>
              <a:t>Há</a:t>
            </a:r>
            <a:r>
              <a:rPr dirty="0"/>
              <a:t>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coisa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você</a:t>
            </a:r>
            <a:r>
              <a:rPr dirty="0"/>
              <a:t> sabe </a:t>
            </a:r>
            <a:r>
              <a:rPr dirty="0" err="1"/>
              <a:t>pôr</a:t>
            </a:r>
            <a:r>
              <a:rPr dirty="0"/>
              <a:t> no kit: o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acalma</a:t>
            </a:r>
            <a:r>
              <a:rPr dirty="0"/>
              <a:t>. </a:t>
            </a:r>
            <a:r>
              <a:rPr dirty="0" err="1"/>
              <a:t>Lembra</a:t>
            </a:r>
            <a:r>
              <a:rPr dirty="0"/>
              <a:t>-se das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coisas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lhe</a:t>
            </a:r>
            <a:r>
              <a:rPr dirty="0"/>
              <a:t> </a:t>
            </a:r>
            <a:r>
              <a:rPr dirty="0" err="1"/>
              <a:t>dão</a:t>
            </a:r>
            <a:r>
              <a:rPr dirty="0"/>
              <a:t> </a:t>
            </a:r>
            <a:r>
              <a:rPr dirty="0" err="1"/>
              <a:t>segurança</a:t>
            </a:r>
            <a:r>
              <a:rPr dirty="0"/>
              <a:t>, da </a:t>
            </a:r>
            <a:r>
              <a:rPr dirty="0" err="1"/>
              <a:t>lição</a:t>
            </a:r>
            <a:r>
              <a:rPr dirty="0"/>
              <a:t> anterior? Uma manta,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música</a:t>
            </a:r>
            <a:r>
              <a:rPr dirty="0"/>
              <a:t>,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fotografia</a:t>
            </a:r>
            <a:r>
              <a:rPr dirty="0"/>
              <a:t> da </a:t>
            </a:r>
            <a:r>
              <a:rPr dirty="0" err="1"/>
              <a:t>família</a:t>
            </a:r>
            <a:r>
              <a:rPr dirty="0"/>
              <a:t>.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vão</a:t>
            </a:r>
            <a:r>
              <a:rPr dirty="0"/>
              <a:t> para o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dirty="0"/>
              <a:t>[0 s] Vamos percorrer a casa da D. Rosa e encontrar o que vai para o kit. [pausa] Na cozinha, a medicação e as receitas.</a:t>
            </a:r>
          </a:p>
          <a:p>
            <a:r>
              <a:rPr lang="pt-PT" dirty="0"/>
              <a:t>[14 s] No frigorífico, a ficha da pessoa, com uma cópia para o kit.</a:t>
            </a:r>
          </a:p>
          <a:p>
            <a:r>
              <a:rPr lang="pt-PT" dirty="0"/>
              <a:t>[24 s] Na sala, a manta do sofá, que a acalma, [pausa]</a:t>
            </a:r>
          </a:p>
          <a:p>
            <a:r>
              <a:rPr lang="pt-PT" dirty="0"/>
              <a:t>[32 s] e uma fotografia recente, para o caso de ela se perder.</a:t>
            </a:r>
          </a:p>
          <a:p>
            <a:r>
              <a:rPr lang="pt-PT" dirty="0"/>
              <a:t>[43 s] No quarto, os óculos de reserva e uma muda de roupa.</a:t>
            </a:r>
          </a:p>
          <a:p>
            <a:r>
              <a:rPr lang="pt-PT" dirty="0"/>
              <a:t>[52 s] Agora, o caminho até à porta: tem de estar livre, porque com fumo ou água a entrar sai-se à pressa.</a:t>
            </a:r>
          </a:p>
          <a:p>
            <a:r>
              <a:rPr lang="pt-PT" dirty="0"/>
              <a:t>[58 s] Junto ao intercomunicador, os contactos da rede de apoio.</a:t>
            </a:r>
          </a:p>
          <a:p>
            <a:r>
              <a:rPr lang="pt-PT" dirty="0"/>
              <a:t>[64 s] E aqui, junto à porta, fica o kit, pronto a sair. Num incêndio, numa cheia ou numa guerra, pode haver só minutos.</a:t>
            </a:r>
          </a:p>
          <a:p>
            <a:r>
              <a:rPr lang="pt-PT" dirty="0"/>
              <a:t>(Os [s] são o segundo do vídeo em que começa cada frase; não se leem.)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Depois, a ficha da pessoa. Numa crise, outras pessoas podem ter de cuidar de quem você cuida: um bombeiro, um voluntário, um vizinho. A ficha diz-lhes, numa só folha, o que precisam de saber: os medicamentos e as horas, como a pessoa comunica, o que a acalma, o que a perturba e a quem ligar. [pausa] Afixe uma cópia no frigorífico e guarde outra no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 fim, um plano para si. E se for a Ana a ficar doente, ou a ficar separada da mãe? [pausa] Escolha três pessoas a quem pode ligar e combine com uma delas quem fica com a pessoa se você não puder. Dê-lhe uma cópia da ficha. Tire fotografias aos documentos e guarde-as no telemóvel. E tenha à mão o 112 e o SNS 24. [pausa] Pedir ajuda também faz parte do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Nem todas as crises obrigam a sair. Se ficar em casa, tenha água, comida, uma lanterna e a medicação à mão. Se tiver de sair, leve o kit e saiba para onde vai. [pausa] Nos dois casos, mantenha a rotina possível: as refeições, os medicamentos e o sono às mesmas horas.</a:t>
            </a:r>
          </a:p>
          <a:p>
            <a:r>
              <a:t>(Círculos: pôr ícones de casa, porta e relógio.)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 kit junto à porta, a ficha da pessoa no frigorífico e um plano de apoio para si. O que prepara hoje poupa minutos, e medo, no dia da crise.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Mas, mesmo com tudo preparado, a crise pode deixar a pessoa em pânico. Na próxima lição, vamos ver o primeiro contacto: como a acalmar, e como se acalmar a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C65D9-07EF-6DB4-FE31-589BC66B2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DB1DB-900E-E90B-361F-5184A2D27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DE46B97-583F-1227-B457-A94060E6E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B4533C0-19B9-DBE7-B23E-5C328E2B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574ACA-9E8B-799F-5DAA-4E105327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444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059C-A7BC-3EA9-92B4-587C7A00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2C587BD-9B7F-3AB1-DEDD-4DB2F9702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44FCE83-6909-AD72-D19A-EADCD079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57058E-AC53-CE4E-5023-5E2293CBE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DEBE882-0F17-C538-1DDC-6450DBCF5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134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F6E3A-AE6F-76F7-B73D-8AF21E6D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8C7DCB6-2E33-7671-D4DF-D78F17AAD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1A1818-4FA9-AF96-8689-FC898682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C248824-0DC3-E876-67F1-056C1886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4A566C8-A6EB-C600-B9D0-B4A5EDE4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456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A5C4B-EF93-E763-0016-BA4196FE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75563FC-33AF-B25A-CA54-FF8C60EC9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237F6E1-FDED-E8A8-2697-002F6268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5726289-8804-2F2D-88B8-7D021A87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69669E8-9A28-9E87-FF1B-2186AA09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146F733-D13D-5780-469C-F4727BCF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667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05054-AE12-173C-A366-69A4343F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24D2256-172F-5E72-2A8A-253C404B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9836782-F334-9EE3-B9FA-6CEE8BEE3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24D8501-2FB3-9C91-636D-C2A9ED50E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0110D4A-DFCF-2CC0-D634-32DB8F9EA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4C07AAF-AA8B-313C-DE5E-2FA7614E1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445B4AE-88C8-3DF2-2164-86EC3BC4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DCA5A3A-76C6-35A1-7E0E-D995C1E3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086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D533D-AA5B-D07C-CC8F-899F4FDE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E7C116D-9337-E6D5-87DB-1890454B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DC38219-8285-C8EC-7CC4-8BA837CC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67ADA4F-20AD-CCA6-09C6-F357E40A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594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B1253D4-C020-C863-24A6-ADF53CAD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5ECC9E8-597C-C0FF-3CB5-430DCC70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A20D655-F902-7CFF-95D3-22F0F7F5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326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72B6F-9847-E8E1-3E95-EC62CAA8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9C6D6DF-D5DF-8688-992C-E1C415FC0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CDCDD90-1B38-7D64-D5C0-60E54BCB2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78DF158-0E72-E24E-B9A5-9348B656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B5F1ABE-42EC-62DD-9799-2CFB1FFE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6FA4B7D-2CE8-7A0B-04D3-ECD236C19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539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FE29F-6194-C510-9E60-61312DDD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9965E576-F0B3-09A6-E170-C9C3FF2C1C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B48FFC3-6119-F8CB-4805-436C88800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C29C391-4920-7E8B-CCA5-96C23AD7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519DEF8-5585-E861-A205-A4F8B35C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BA5F69E-CBC7-894E-B3C7-F8769568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455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C3E8C-BE00-C739-AF4F-6483D29F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02432FC-9075-8E19-4D64-666E30DB7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84E011-AE47-A029-FE4D-E2B08500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3580606-B7F5-BE0D-6A00-D1C1AD196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9E6FFB-E3E9-3429-9DC3-49059DE1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863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42D8E9-EE29-D51F-1AFF-ECB61E152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2B322A7-C366-6221-8CC5-F07397AE6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9A87E32-B99B-5F99-E7D7-F1768FFC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4CA633-A64B-9897-749B-18079C7A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087368-2F36-229B-BE56-BA6E7A4E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603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CC6B9A2-9717-ABF1-A3D8-49F8EBA4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E5C7534-842A-21AA-E318-4E857255E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FCE2738-7FB7-9127-DFB2-57C1845F7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B7C3F-A6D3-4F5F-B3B9-AF14B0EA8DC6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A08F7C9-BD42-681E-E55F-049A9CCF7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570603C-D00B-B0FF-D91A-236D20D39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AC82E6-0D14-4F02-F6F4-593EDD399D26}"/>
              </a:ext>
            </a:extLst>
          </p:cNvPr>
          <p:cNvSpPr/>
          <p:nvPr userDrawn="1"/>
        </p:nvSpPr>
        <p:spPr>
          <a:xfrm>
            <a:off x="0" y="6705600"/>
            <a:ext cx="6096000" cy="152400"/>
          </a:xfrm>
          <a:prstGeom prst="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EC9C83-B913-D848-277E-9E27A6D07621}"/>
              </a:ext>
            </a:extLst>
          </p:cNvPr>
          <p:cNvSpPr/>
          <p:nvPr userDrawn="1"/>
        </p:nvSpPr>
        <p:spPr>
          <a:xfrm>
            <a:off x="6096000" y="6705600"/>
            <a:ext cx="6096000" cy="152400"/>
          </a:xfrm>
          <a:prstGeom prst="rect">
            <a:avLst/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9DB8A7-4D2B-1104-6D77-86B95B5A01AC}"/>
              </a:ext>
            </a:extLst>
          </p:cNvPr>
          <p:cNvSpPr txBox="1"/>
          <p:nvPr userDrawn="1"/>
        </p:nvSpPr>
        <p:spPr>
          <a:xfrm>
            <a:off x="304800" y="6350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9A9A9A"/>
                </a:solidFill>
                <a:latin typeface="Segoe UI" panose="020B0502040204020203" pitchFamily="34" charset="0"/>
              </a:rPr>
              <a:t>Cuidar em Crise  ·  L2 Preparar antes</a:t>
            </a:r>
          </a:p>
        </p:txBody>
      </p:sp>
    </p:spTree>
    <p:extLst>
      <p:ext uri="{BB962C8B-B14F-4D97-AF65-F5344CB8AC3E}">
        <p14:creationId xmlns:p14="http://schemas.microsoft.com/office/powerpoint/2010/main" val="421959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4a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4a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4a"/><Relationship Id="rId11" Type="http://schemas.openxmlformats.org/officeDocument/2006/relationships/image" Target="../media/image1.png"/><Relationship Id="rId5" Type="http://schemas.microsoft.com/office/2007/relationships/media" Target="../media/media5.m4a"/><Relationship Id="rId10" Type="http://schemas.openxmlformats.org/officeDocument/2006/relationships/image" Target="../media/image3.png"/><Relationship Id="rId4" Type="http://schemas.openxmlformats.org/officeDocument/2006/relationships/audio" Target="../media/media4.mp3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7" Type="http://schemas.openxmlformats.org/officeDocument/2006/relationships/image" Target="../media/image1.png"/><Relationship Id="rId2" Type="http://schemas.microsoft.com/office/2007/relationships/media" Target="../media/media6.m4a"/><Relationship Id="rId1" Type="http://schemas.openxmlformats.org/officeDocument/2006/relationships/tags" Target="../tags/tag1.xml"/><Relationship Id="rId6" Type="http://schemas.openxmlformats.org/officeDocument/2006/relationships/image" Target="../media/image4.sv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microsoft.com/office/2007/relationships/media" Target="../media/media7.m4a"/><Relationship Id="rId7" Type="http://schemas.openxmlformats.org/officeDocument/2006/relationships/image" Target="../media/image5.sv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4" Type="http://schemas.openxmlformats.org/officeDocument/2006/relationships/audio" Target="../media/media7.m4a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video" Target="file:///C:\Users\tiago\Desktop\Mestrado_2Ano\CAMUL\RepoCamul\CAMUL-2026\Files\P1\L2\S5_Planos_Kit_L2.mp4" TargetMode="External"/><Relationship Id="rId7" Type="http://schemas.openxmlformats.org/officeDocument/2006/relationships/notesSlide" Target="../notesSlides/notesSlide5.xml"/><Relationship Id="rId2" Type="http://schemas.microsoft.com/office/2007/relationships/media" Target="file:///C:\Users\tiago\Desktop\Mestrado_2Ano\CAMUL\RepoCamul\CAMUL-2026\Files\P1\L2\S5_Planos_Kit_L2.mp4" TargetMode="Externa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7.xml"/><Relationship Id="rId5" Type="http://schemas.openxmlformats.org/officeDocument/2006/relationships/audio" Target="../media/media8.m4a"/><Relationship Id="rId4" Type="http://schemas.microsoft.com/office/2007/relationships/media" Target="../media/media8.m4a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9.m4a"/><Relationship Id="rId7" Type="http://schemas.openxmlformats.org/officeDocument/2006/relationships/image" Target="../media/image9.png"/><Relationship Id="rId2" Type="http://schemas.openxmlformats.org/officeDocument/2006/relationships/video" Target="file:///C:\Users\tiago\Desktop\Mestrado_2Ano\CAMUL\RepoCamul\CAMUL-2026\Files\P1\L2\S5_Visita3D_L2.mp4" TargetMode="External"/><Relationship Id="rId1" Type="http://schemas.microsoft.com/office/2007/relationships/media" Target="file:///C:\Users\tiago\Desktop\Mestrado_2Ano\CAMUL\RepoCamul\CAMUL-2026\Files\P1\L2\S5_Visita3D_L2.mp4" TargetMode="Externa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9.m4a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audio" Target="../media/media12.m4a"/><Relationship Id="rId7" Type="http://schemas.openxmlformats.org/officeDocument/2006/relationships/image" Target="../media/image14.svg"/><Relationship Id="rId2" Type="http://schemas.microsoft.com/office/2007/relationships/media" Target="../media/media12.m4a"/><Relationship Id="rId1" Type="http://schemas.openxmlformats.org/officeDocument/2006/relationships/tags" Target="../tags/tag3.xml"/><Relationship Id="rId6" Type="http://schemas.openxmlformats.org/officeDocument/2006/relationships/image" Target="../media/image13.sv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microsoft.com/office/2007/relationships/media" Target="../media/media13.m4a"/><Relationship Id="rId7" Type="http://schemas.openxmlformats.org/officeDocument/2006/relationships/image" Target="../media/image16.sv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4" Type="http://schemas.openxmlformats.org/officeDocument/2006/relationships/audio" Target="../media/media13.m4a"/><Relationship Id="rId9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hyperlink" Target="https://storyset.com/" TargetMode="Externa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0A60B8-7AED-641D-0EA2-1680C6A38071}"/>
              </a:ext>
            </a:extLst>
          </p:cNvPr>
          <p:cNvSpPr txBox="1"/>
          <p:nvPr/>
        </p:nvSpPr>
        <p:spPr>
          <a:xfrm>
            <a:off x="762000" y="1905000"/>
            <a:ext cx="10668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5400" b="1">
                <a:solidFill>
                  <a:srgbClr val="34495E"/>
                </a:solidFill>
                <a:latin typeface="Segoe UI" panose="020B0502040204020203" pitchFamily="34" charset="0"/>
              </a:rPr>
              <a:t>Cuidar em Crise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24EBBA-5D70-8FC6-995D-310E19C4CE91}"/>
              </a:ext>
            </a:extLst>
          </p:cNvPr>
          <p:cNvSpPr txBox="1"/>
          <p:nvPr/>
        </p:nvSpPr>
        <p:spPr>
          <a:xfrm>
            <a:off x="1270000" y="2984500"/>
            <a:ext cx="965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200">
                <a:solidFill>
                  <a:srgbClr val="2B2B2B"/>
                </a:solidFill>
                <a:latin typeface="Segoe UI" panose="020B0502040204020203" pitchFamily="34" charset="0"/>
              </a:rPr>
              <a:t>Primeiros socorros psicológicos para cuidadores de pessoas com demência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2B09296-AA00-14AC-F14C-C48CA7A4D98F}"/>
              </a:ext>
            </a:extLst>
          </p:cNvPr>
          <p:cNvSpPr/>
          <p:nvPr/>
        </p:nvSpPr>
        <p:spPr>
          <a:xfrm>
            <a:off x="3429000" y="4191000"/>
            <a:ext cx="5334000" cy="558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>
                <a:solidFill>
                  <a:srgbClr val="FFFFFF"/>
                </a:solidFill>
                <a:latin typeface="Segoe UI" panose="020B0502040204020203" pitchFamily="34" charset="0"/>
              </a:rPr>
              <a:t>Lição 2 · Preparar antes</a:t>
            </a:r>
          </a:p>
        </p:txBody>
      </p:sp>
      <p:pic>
        <p:nvPicPr>
          <p:cNvPr id="5" name="Música">
            <a:hlinkClick r:id="" action="ppaction://media"/>
            <a:extLst>
              <a:ext uri="{FF2B5EF4-FFF2-40B4-BE49-F238E27FC236}">
                <a16:creationId xmlns:a16="http://schemas.microsoft.com/office/drawing/2014/main" id="{F5E8BAC5-EEAC-4CDB-E645-80D49CAFDC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254000"/>
            <a:ext cx="609600" cy="609600"/>
          </a:xfrm>
          <a:prstGeom prst="rect">
            <a:avLst/>
          </a:prstGeom>
        </p:spPr>
      </p:pic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E8B1DE20-21E8-053A-285B-4E493F424ED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60"/>
    </mc:Choice>
    <mc:Fallback xmlns="">
      <p:transition spd="slow" advTm="4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" numSld="3" showWhenStopped="0">
                <p:cTn id="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39" objId="5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na com pressa" descr="A Ana, a filha cuidadora, corre com pressa; ao lado, um cronómetro e um sinal de alerta.">
            <a:extLst>
              <a:ext uri="{FF2B5EF4-FFF2-40B4-BE49-F238E27FC236}">
                <a16:creationId xmlns:a16="http://schemas.microsoft.com/office/drawing/2014/main" id="{E94B1C0A-629F-8506-0578-D4C8BCC1C97E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381000"/>
            <a:ext cx="4572000" cy="4572000"/>
          </a:xfrm>
          <a:prstGeom prst="rect">
            <a:avLst/>
          </a:prstGeom>
        </p:spPr>
      </p:pic>
      <p:pic>
        <p:nvPicPr>
          <p:cNvPr id="8" name="D. Rosa inquieta" descr="A D. Rosa, sentada numa cadeira, confusa e inquieta, rodeada de pontos de interrogação.">
            <a:extLst>
              <a:ext uri="{FF2B5EF4-FFF2-40B4-BE49-F238E27FC236}">
                <a16:creationId xmlns:a16="http://schemas.microsoft.com/office/drawing/2014/main" id="{52DD0F5F-80A4-2CCA-1371-2F59D494C30D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381000"/>
            <a:ext cx="4572000" cy="4572000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E5D7085-B417-52EF-44E0-A521F6B6CAA5}"/>
              </a:ext>
            </a:extLst>
          </p:cNvPr>
          <p:cNvSpPr/>
          <p:nvPr/>
        </p:nvSpPr>
        <p:spPr>
          <a:xfrm>
            <a:off x="2667000" y="5080000"/>
            <a:ext cx="1778000" cy="457200"/>
          </a:xfrm>
          <a:prstGeom prst="roundRect">
            <a:avLst/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latin typeface="Segoe UI" panose="020B0502040204020203" pitchFamily="34" charset="0"/>
              </a:rPr>
              <a:t>Ana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0D26F38-F55B-A504-EB2E-3BC19271C7CA}"/>
              </a:ext>
            </a:extLst>
          </p:cNvPr>
          <p:cNvSpPr/>
          <p:nvPr/>
        </p:nvSpPr>
        <p:spPr>
          <a:xfrm>
            <a:off x="7747000" y="5080000"/>
            <a:ext cx="1778000" cy="457200"/>
          </a:xfrm>
          <a:prstGeom prst="round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latin typeface="Segoe UI" panose="020B0502040204020203" pitchFamily="34" charset="0"/>
              </a:rPr>
              <a:t>D. Rosa</a:t>
            </a:r>
          </a:p>
        </p:txBody>
      </p:sp>
      <p:pic>
        <p:nvPicPr>
          <p:cNvPr id="2" name="Sirene">
            <a:hlinkClick r:id="" action="ppaction://media"/>
            <a:extLst>
              <a:ext uri="{FF2B5EF4-FFF2-40B4-BE49-F238E27FC236}">
                <a16:creationId xmlns:a16="http://schemas.microsoft.com/office/drawing/2014/main" id="{A91D0C89-04E0-5999-610B-537D0551DF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524000" y="254000"/>
            <a:ext cx="609600" cy="609600"/>
          </a:xfrm>
          <a:prstGeom prst="rect">
            <a:avLst/>
          </a:prstGeom>
        </p:spPr>
      </p:pic>
      <p:pic>
        <p:nvPicPr>
          <p:cNvPr id="5" name="Relógio">
            <a:hlinkClick r:id="" action="ppaction://media"/>
            <a:extLst>
              <a:ext uri="{FF2B5EF4-FFF2-40B4-BE49-F238E27FC236}">
                <a16:creationId xmlns:a16="http://schemas.microsoft.com/office/drawing/2014/main" id="{19CC7E20-374C-CECA-D224-32873CBA1A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524000" y="254000"/>
            <a:ext cx="609600" cy="609600"/>
          </a:xfrm>
          <a:prstGeom prst="rect">
            <a:avLst/>
          </a:prstGeom>
        </p:spPr>
      </p:pic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267B9B41-58E5-8583-7E29-0F5F0E381E9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91"/>
    </mc:Choice>
    <mc:Fallback xmlns="">
      <p:transition spd="slow" advTm="19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76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1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5000" showWhenStopped="0">
                <p:cTn id="1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30000" showWhenStopped="0">
                <p:cTn id="1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9" objId="2"/>
        <p14:playEvt time="10" objId="5"/>
        <p14:stopEvt time="19745" objId="2"/>
        <p14:stopEvt time="19745" objId="5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6454E61-79E8-A20E-A647-C4F914718B84}"/>
              </a:ext>
            </a:extLst>
          </p:cNvPr>
          <p:cNvSpPr txBox="1"/>
          <p:nvPr/>
        </p:nvSpPr>
        <p:spPr>
          <a:xfrm>
            <a:off x="7747000" y="1905000"/>
            <a:ext cx="3937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34495E"/>
                </a:solidFill>
                <a:latin typeface="Segoe UI" panose="020B0502040204020203" pitchFamily="34" charset="0"/>
              </a:rPr>
              <a:t>Isso prepara-se hoje.</a:t>
            </a:r>
          </a:p>
        </p:txBody>
      </p:sp>
      <p:pic>
        <p:nvPicPr>
          <p:cNvPr id="6" name="Saco vazio (icone)" descr="Saco de viagem vazio, em azul, em cima de uma mesa.">
            <a:extLst>
              <a:ext uri="{FF2B5EF4-FFF2-40B4-BE49-F238E27FC236}">
                <a16:creationId xmlns:a16="http://schemas.microsoft.com/office/drawing/2014/main" id="{8F5FBC3F-A170-5B14-CCC1-A5F401BB5D7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000" y="1270000"/>
            <a:ext cx="3810000" cy="3810000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889B8104-2857-760E-3345-31A72856F68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92"/>
    </mc:Choice>
    <mc:Fallback xmlns="">
      <p:transition spd="slow" advTm="95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219C920-49C3-75EC-6D93-03D4F368EA0A}"/>
              </a:ext>
            </a:extLst>
          </p:cNvPr>
          <p:cNvSpPr txBox="1"/>
          <p:nvPr/>
        </p:nvSpPr>
        <p:spPr>
          <a:xfrm>
            <a:off x="762000" y="1397000"/>
            <a:ext cx="10668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4000" b="1">
                <a:solidFill>
                  <a:srgbClr val="34495E"/>
                </a:solidFill>
                <a:latin typeface="Segoe UI" panose="020B0502040204020203" pitchFamily="34" charset="0"/>
              </a:rPr>
              <a:t>L2 · Preparar antes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5B58E4-835E-6055-7C36-CF46E0BEB38E}"/>
              </a:ext>
            </a:extLst>
          </p:cNvPr>
          <p:cNvSpPr txBox="1"/>
          <p:nvPr/>
        </p:nvSpPr>
        <p:spPr>
          <a:xfrm>
            <a:off x="762000" y="23495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200">
                <a:solidFill>
                  <a:srgbClr val="2B2B2B"/>
                </a:solidFill>
                <a:latin typeface="Segoe UI" panose="020B0502040204020203" pitchFamily="34" charset="0"/>
              </a:rPr>
              <a:t>Três coisas a preparar antes da crise.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4711C0-CB40-FD5E-C1A7-1465F907B81B}"/>
              </a:ext>
            </a:extLst>
          </p:cNvPr>
          <p:cNvSpPr/>
          <p:nvPr/>
        </p:nvSpPr>
        <p:spPr>
          <a:xfrm>
            <a:off x="2095500" y="3429000"/>
            <a:ext cx="1905000" cy="1905000"/>
          </a:xfrm>
          <a:prstGeom prst="ellipse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03200" rtlCol="0" anchor="b"/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O kit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BD1E07-9F59-E479-F27E-E3639973A99F}"/>
              </a:ext>
            </a:extLst>
          </p:cNvPr>
          <p:cNvSpPr/>
          <p:nvPr/>
        </p:nvSpPr>
        <p:spPr>
          <a:xfrm>
            <a:off x="5143500" y="3429000"/>
            <a:ext cx="1905000" cy="1905000"/>
          </a:xfrm>
          <a:prstGeom prst="ellipse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03200" rtlCol="0" anchor="b"/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A ficha da pessoa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891B72-56AD-4B44-8412-915EA65F484D}"/>
              </a:ext>
            </a:extLst>
          </p:cNvPr>
          <p:cNvSpPr/>
          <p:nvPr/>
        </p:nvSpPr>
        <p:spPr>
          <a:xfrm>
            <a:off x="8191500" y="3429000"/>
            <a:ext cx="1905000" cy="1905000"/>
          </a:xfrm>
          <a:prstGeom prst="ellipse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03200" rtlCol="0" anchor="b"/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O plano de apoio</a:t>
            </a:r>
          </a:p>
        </p:txBody>
      </p:sp>
      <p:pic>
        <p:nvPicPr>
          <p:cNvPr id="8" name="Ícone saco_azul" descr="Saco do kit">
            <a:extLst>
              <a:ext uri="{FF2B5EF4-FFF2-40B4-BE49-F238E27FC236}">
                <a16:creationId xmlns:a16="http://schemas.microsoft.com/office/drawing/2014/main" id="{FA5020F4-3AAA-BEFC-0914-E4DA8DF09AD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8600" y="3683000"/>
            <a:ext cx="558800" cy="558800"/>
          </a:xfrm>
          <a:prstGeom prst="rect">
            <a:avLst/>
          </a:prstGeom>
        </p:spPr>
      </p:pic>
      <p:pic>
        <p:nvPicPr>
          <p:cNvPr id="10" name="Ícone ficha_azul" descr="Ficha da pessoa">
            <a:extLst>
              <a:ext uri="{FF2B5EF4-FFF2-40B4-BE49-F238E27FC236}">
                <a16:creationId xmlns:a16="http://schemas.microsoft.com/office/drawing/2014/main" id="{9426140E-594F-0CE8-0C98-AC2531B85C0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6600" y="3683000"/>
            <a:ext cx="558800" cy="558800"/>
          </a:xfrm>
          <a:prstGeom prst="rect">
            <a:avLst/>
          </a:prstGeom>
        </p:spPr>
      </p:pic>
      <p:pic>
        <p:nvPicPr>
          <p:cNvPr id="12" name="Ícone telefone_laranja" descr="Telefone do plano de apoio">
            <a:extLst>
              <a:ext uri="{FF2B5EF4-FFF2-40B4-BE49-F238E27FC236}">
                <a16:creationId xmlns:a16="http://schemas.microsoft.com/office/drawing/2014/main" id="{29A22392-B829-3481-2F48-38E0D91A3D2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64600" y="3683000"/>
            <a:ext cx="558800" cy="558800"/>
          </a:xfrm>
          <a:prstGeom prst="rect">
            <a:avLst/>
          </a:prstGeom>
        </p:spPr>
      </p:pic>
      <p:pic>
        <p:nvPicPr>
          <p:cNvPr id="7" name="Música">
            <a:hlinkClick r:id="" action="ppaction://media"/>
            <a:extLst>
              <a:ext uri="{FF2B5EF4-FFF2-40B4-BE49-F238E27FC236}">
                <a16:creationId xmlns:a16="http://schemas.microsoft.com/office/drawing/2014/main" id="{A7E49DD6-863A-0F6C-69C6-7090502068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524000" y="254000"/>
            <a:ext cx="609600" cy="609600"/>
          </a:xfrm>
          <a:prstGeom prst="rect">
            <a:avLst/>
          </a:prstGeom>
        </p:spPr>
      </p:pic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CD36C698-A50A-5E90-9F1C-164AED46E12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92"/>
    </mc:Choice>
    <mc:Fallback xmlns="">
      <p:transition spd="slow" advTm="106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" numSld="6" showWhenStopped="0">
                <p:cTn id="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41" objId="7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os do kit (vídeo)" descr="Uma mão põe no saco, um a um, os objetos do kit: medicação e receita, cartão de identificação, fotografia, roupa e sapatos, óculos e manta. No fim, o saco fica junto à porta.">
            <a:hlinkClick r:id="" action="ppaction://media"/>
            <a:extLst>
              <a:ext uri="{FF2B5EF4-FFF2-40B4-BE49-F238E27FC236}">
                <a16:creationId xmlns:a16="http://schemas.microsoft.com/office/drawing/2014/main" id="{081BE111-E918-771E-FC95-E5462E8D6411}"/>
              </a:ext>
            </a:extLst>
          </p:cNvPr>
          <p:cNvPicPr>
            <a:picLocks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8"/>
          <a:srcRect t="45000" b="3000"/>
          <a:stretch>
            <a:fillRect/>
          </a:stretch>
        </p:blipFill>
        <p:spPr>
          <a:xfrm>
            <a:off x="1316406" y="635000"/>
            <a:ext cx="5495191" cy="5080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6454E61-79E8-A20E-A647-C4F914718B84}"/>
              </a:ext>
            </a:extLst>
          </p:cNvPr>
          <p:cNvSpPr txBox="1"/>
          <p:nvPr/>
        </p:nvSpPr>
        <p:spPr>
          <a:xfrm>
            <a:off x="7747000" y="762000"/>
            <a:ext cx="3937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34495E"/>
                </a:solidFill>
                <a:latin typeface="Segoe UI" panose="020B0502040204020203" pitchFamily="34" charset="0"/>
              </a:rPr>
              <a:t>O kit, junto à porta</a:t>
            </a:r>
          </a:p>
          <a:p>
            <a:r>
              <a:rPr lang="pt-PT" sz="2000" b="0">
                <a:solidFill>
                  <a:srgbClr val="2F6DB5"/>
                </a:solidFill>
                <a:latin typeface="Segoe UI" panose="020B0502040204020203" pitchFamily="34" charset="0"/>
              </a:rPr>
              <a:t>✓ Medicação e receitas</a:t>
            </a:r>
          </a:p>
          <a:p>
            <a:r>
              <a:rPr lang="pt-PT" sz="2000" b="0">
                <a:solidFill>
                  <a:srgbClr val="2F6DB5"/>
                </a:solidFill>
                <a:latin typeface="Segoe UI" panose="020B0502040204020203" pitchFamily="34" charset="0"/>
              </a:rPr>
              <a:t>✓ Diagnóstico e contacto</a:t>
            </a:r>
          </a:p>
          <a:p>
            <a:r>
              <a:rPr lang="pt-PT" sz="2000" b="0">
                <a:solidFill>
                  <a:srgbClr val="2F6DB5"/>
                </a:solidFill>
                <a:latin typeface="Segoe UI" panose="020B0502040204020203" pitchFamily="34" charset="0"/>
              </a:rPr>
              <a:t>✓ Fotografia recente</a:t>
            </a:r>
          </a:p>
          <a:p>
            <a:r>
              <a:rPr lang="pt-PT" sz="2000" b="0">
                <a:solidFill>
                  <a:srgbClr val="2F6DB5"/>
                </a:solidFill>
                <a:latin typeface="Segoe UI" panose="020B0502040204020203" pitchFamily="34" charset="0"/>
              </a:rPr>
              <a:t>✓ Roupa e calçado</a:t>
            </a:r>
          </a:p>
          <a:p>
            <a:r>
              <a:rPr lang="pt-PT" sz="2000" b="0">
                <a:solidFill>
                  <a:srgbClr val="2F6DB5"/>
                </a:solidFill>
                <a:latin typeface="Segoe UI" panose="020B0502040204020203" pitchFamily="34" charset="0"/>
              </a:rPr>
              <a:t>✓ Óculos ou aparelho auditivo</a:t>
            </a:r>
          </a:p>
          <a:p>
            <a:r>
              <a:rPr lang="pt-PT" sz="2000" b="0">
                <a:solidFill>
                  <a:srgbClr val="2F6DB5"/>
                </a:solidFill>
                <a:latin typeface="Segoe UI" panose="020B0502040204020203" pitchFamily="34" charset="0"/>
              </a:rPr>
              <a:t>✓ O que a acalma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FDF64-C7E2-E5FB-F216-D377F03083B2}"/>
              </a:ext>
            </a:extLst>
          </p:cNvPr>
          <p:cNvSpPr/>
          <p:nvPr/>
        </p:nvSpPr>
        <p:spPr>
          <a:xfrm>
            <a:off x="7747000" y="4826000"/>
            <a:ext cx="1651000" cy="457200"/>
          </a:xfrm>
          <a:prstGeom prst="round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solidFill>
                  <a:srgbClr val="FFFFFF"/>
                </a:solidFill>
                <a:latin typeface="Segoe UI" panose="020B0502040204020203" pitchFamily="34" charset="0"/>
              </a:rPr>
              <a:t>D. Rosa</a:t>
            </a:r>
          </a:p>
        </p:txBody>
      </p:sp>
      <p:pic>
        <p:nvPicPr>
          <p:cNvPr id="63" name="Audio 62">
            <a:hlinkClick r:id="" action="ppaction://media"/>
            <a:extLst>
              <a:ext uri="{FF2B5EF4-FFF2-40B4-BE49-F238E27FC236}">
                <a16:creationId xmlns:a16="http://schemas.microsoft.com/office/drawing/2014/main" id="{1000B0D2-52EC-5DB1-978A-90A30CFCEFA3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51"/>
    </mc:Choice>
    <mc:Fallback xmlns="">
      <p:transition spd="slow" advTm="330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744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45455">
                <p:cTn id="38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</p:childTnLst>
        </p:cTn>
      </p:par>
    </p:tnLst>
    <p:bldLst>
      <p:bldP spid="3" grpId="0" build="p" autoUpdateAnimBg="0"/>
    </p:bldLst>
  </p:timing>
  <p:extLst>
    <p:ext uri="{E180D4A7-C9FB-4DFB-919C-405C955672EB}">
      <p14:showEvtLst xmlns:p14="http://schemas.microsoft.com/office/powerpoint/2010/main">
        <p14:playEvt time="38" objId="2"/>
        <p14:stopEvt time="27531" objId="2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sita 3D (vídeo)" descr="Visita gravada à casa da D. Rosa no Matterport: cozinha, frigorífico, sala, quarto, corredor, intercomunicador e porta de entrada, com etiquetas.">
            <a:hlinkClick r:id="" action="ppaction://media"/>
            <a:extLst>
              <a:ext uri="{FF2B5EF4-FFF2-40B4-BE49-F238E27FC236}">
                <a16:creationId xmlns:a16="http://schemas.microsoft.com/office/drawing/2014/main" id="{02993ECD-C248-BA6F-92F9-5F2DA1D61D72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7"/>
          <a:srcRect/>
          <a:stretch>
            <a:fillRect/>
          </a:stretch>
        </p:blipFill>
        <p:spPr>
          <a:xfrm>
            <a:off x="1625600" y="1270000"/>
            <a:ext cx="8940800" cy="50292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046A301-0C6E-3EC4-7381-91C2DD87EF3D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200" b="1">
                <a:solidFill>
                  <a:srgbClr val="2F6DB5"/>
                </a:solidFill>
                <a:latin typeface="Segoe UI" panose="020B0502040204020203" pitchFamily="34" charset="0"/>
              </a:rPr>
              <a:t>Caça ao kit</a:t>
            </a:r>
          </a:p>
        </p:txBody>
      </p:sp>
      <p:sp>
        <p:nvSpPr>
          <p:cNvPr id="5" name="Etiqueta 1">
            <a:extLst>
              <a:ext uri="{FF2B5EF4-FFF2-40B4-BE49-F238E27FC236}">
                <a16:creationId xmlns:a16="http://schemas.microsoft.com/office/drawing/2014/main" id="{33D1D1C2-ADB6-32B8-61B3-7C35E11D2BB7}"/>
              </a:ext>
            </a:extLst>
          </p:cNvPr>
          <p:cNvSpPr/>
          <p:nvPr/>
        </p:nvSpPr>
        <p:spPr>
          <a:xfrm>
            <a:off x="1803400" y="5003800"/>
            <a:ext cx="5080000" cy="11430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t"/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L2 · Medicação</a:t>
            </a:r>
          </a:p>
          <a:p>
            <a:r>
              <a:rPr lang="pt-PT" sz="1200">
                <a:solidFill>
                  <a:srgbClr val="FFFFFF"/>
                </a:solidFill>
                <a:latin typeface="Segoe UI" panose="020B0502040204020203" pitchFamily="34" charset="0"/>
              </a:rPr>
              <a:t>A medicação e as receitas da D. Rosa. No kit vai o suficiente para alguns dias e a lista atualizada.</a:t>
            </a:r>
          </a:p>
        </p:txBody>
      </p:sp>
      <p:sp>
        <p:nvSpPr>
          <p:cNvPr id="6" name="Etiqueta 2">
            <a:extLst>
              <a:ext uri="{FF2B5EF4-FFF2-40B4-BE49-F238E27FC236}">
                <a16:creationId xmlns:a16="http://schemas.microsoft.com/office/drawing/2014/main" id="{F0279A8C-862B-FF49-1BD4-29C70BF9C95E}"/>
              </a:ext>
            </a:extLst>
          </p:cNvPr>
          <p:cNvSpPr/>
          <p:nvPr/>
        </p:nvSpPr>
        <p:spPr>
          <a:xfrm>
            <a:off x="1803400" y="5003800"/>
            <a:ext cx="5080000" cy="11430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t"/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L2 · Ficha da pessoa</a:t>
            </a:r>
          </a:p>
          <a:p>
            <a:r>
              <a:rPr lang="pt-PT" sz="1200">
                <a:solidFill>
                  <a:srgbClr val="FFFFFF"/>
                </a:solidFill>
                <a:latin typeface="Segoe UI" panose="020B0502040204020203" pitchFamily="34" charset="0"/>
              </a:rPr>
              <a:t>Uma folha com o que a D. Rosa precisa. Uma cópia aqui, outra no kit.</a:t>
            </a:r>
          </a:p>
        </p:txBody>
      </p:sp>
      <p:sp>
        <p:nvSpPr>
          <p:cNvPr id="7" name="Etiqueta 3">
            <a:extLst>
              <a:ext uri="{FF2B5EF4-FFF2-40B4-BE49-F238E27FC236}">
                <a16:creationId xmlns:a16="http://schemas.microsoft.com/office/drawing/2014/main" id="{24A93F18-E673-33AE-44DA-A29865292C4E}"/>
              </a:ext>
            </a:extLst>
          </p:cNvPr>
          <p:cNvSpPr/>
          <p:nvPr/>
        </p:nvSpPr>
        <p:spPr>
          <a:xfrm>
            <a:off x="1803400" y="5003800"/>
            <a:ext cx="5080000" cy="11430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t"/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L2 · Objeto de conforto</a:t>
            </a:r>
          </a:p>
          <a:p>
            <a:r>
              <a:rPr lang="pt-PT" sz="1200">
                <a:solidFill>
                  <a:srgbClr val="FFFFFF"/>
                </a:solidFill>
                <a:latin typeface="Segoe UI" panose="020B0502040204020203" pitchFamily="34" charset="0"/>
              </a:rPr>
              <a:t>A manta do sofá acalma a D. Rosa. Num sítio estranho, o que é familiar ajuda.</a:t>
            </a:r>
          </a:p>
        </p:txBody>
      </p:sp>
      <p:sp>
        <p:nvSpPr>
          <p:cNvPr id="8" name="Etiqueta 4">
            <a:extLst>
              <a:ext uri="{FF2B5EF4-FFF2-40B4-BE49-F238E27FC236}">
                <a16:creationId xmlns:a16="http://schemas.microsoft.com/office/drawing/2014/main" id="{0151A719-3D9A-6E9B-2930-B87CD354774D}"/>
              </a:ext>
            </a:extLst>
          </p:cNvPr>
          <p:cNvSpPr/>
          <p:nvPr/>
        </p:nvSpPr>
        <p:spPr>
          <a:xfrm>
            <a:off x="1803400" y="5003800"/>
            <a:ext cx="5080000" cy="11430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t"/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L2 · Fotografia recente</a:t>
            </a:r>
          </a:p>
          <a:p>
            <a:r>
              <a:rPr lang="pt-PT" sz="1200">
                <a:solidFill>
                  <a:srgbClr val="FFFFFF"/>
                </a:solidFill>
                <a:latin typeface="Segoe UI" panose="020B0502040204020203" pitchFamily="34" charset="0"/>
              </a:rPr>
              <a:t>Uma fotografia recente ajuda a encontrá-la se ela se perder.</a:t>
            </a:r>
          </a:p>
        </p:txBody>
      </p:sp>
      <p:sp>
        <p:nvSpPr>
          <p:cNvPr id="9" name="Etiqueta 5">
            <a:extLst>
              <a:ext uri="{FF2B5EF4-FFF2-40B4-BE49-F238E27FC236}">
                <a16:creationId xmlns:a16="http://schemas.microsoft.com/office/drawing/2014/main" id="{C6892A58-9485-3535-FE39-7E7BA7D15E58}"/>
              </a:ext>
            </a:extLst>
          </p:cNvPr>
          <p:cNvSpPr/>
          <p:nvPr/>
        </p:nvSpPr>
        <p:spPr>
          <a:xfrm>
            <a:off x="1803400" y="5003800"/>
            <a:ext cx="5080000" cy="11430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t"/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L2 · Óculos e roupa</a:t>
            </a:r>
          </a:p>
          <a:p>
            <a:r>
              <a:rPr lang="pt-PT" sz="1200">
                <a:solidFill>
                  <a:srgbClr val="FFFFFF"/>
                </a:solidFill>
                <a:latin typeface="Segoe UI" panose="020B0502040204020203" pitchFamily="34" charset="0"/>
              </a:rPr>
              <a:t>Óculos de reserva, uma muda de roupa e calçado confortável.</a:t>
            </a:r>
          </a:p>
        </p:txBody>
      </p:sp>
      <p:sp>
        <p:nvSpPr>
          <p:cNvPr id="10" name="Etiqueta 6">
            <a:extLst>
              <a:ext uri="{FF2B5EF4-FFF2-40B4-BE49-F238E27FC236}">
                <a16:creationId xmlns:a16="http://schemas.microsoft.com/office/drawing/2014/main" id="{FBB9A707-C357-646F-7B29-8E30503CEA91}"/>
              </a:ext>
            </a:extLst>
          </p:cNvPr>
          <p:cNvSpPr/>
          <p:nvPr/>
        </p:nvSpPr>
        <p:spPr>
          <a:xfrm>
            <a:off x="1803400" y="5003800"/>
            <a:ext cx="5080000" cy="11430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t"/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L2 · Caminho livre</a:t>
            </a:r>
          </a:p>
          <a:p>
            <a:r>
              <a:rPr lang="pt-PT" sz="1200">
                <a:solidFill>
                  <a:srgbClr val="FFFFFF"/>
                </a:solidFill>
                <a:latin typeface="Segoe UI" panose="020B0502040204020203" pitchFamily="34" charset="0"/>
              </a:rPr>
              <a:t>Com fumo ou água a entrar, sai-se à pressa. O caminho até à porta tem de estar livre.</a:t>
            </a:r>
          </a:p>
        </p:txBody>
      </p:sp>
      <p:sp>
        <p:nvSpPr>
          <p:cNvPr id="11" name="Etiqueta 7">
            <a:extLst>
              <a:ext uri="{FF2B5EF4-FFF2-40B4-BE49-F238E27FC236}">
                <a16:creationId xmlns:a16="http://schemas.microsoft.com/office/drawing/2014/main" id="{40C9DE7C-A3E7-C7A3-9C0E-F2CCBA446C1E}"/>
              </a:ext>
            </a:extLst>
          </p:cNvPr>
          <p:cNvSpPr/>
          <p:nvPr/>
        </p:nvSpPr>
        <p:spPr>
          <a:xfrm>
            <a:off x="1803400" y="5003800"/>
            <a:ext cx="5080000" cy="1143000"/>
          </a:xfrm>
          <a:prstGeom prst="roundRect">
            <a:avLst>
              <a:gd name="adj" fmla="val 12000"/>
            </a:avLst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t"/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L2 · Rede de apoio</a:t>
            </a:r>
          </a:p>
          <a:p>
            <a:r>
              <a:rPr lang="pt-PT" sz="1200">
                <a:solidFill>
                  <a:srgbClr val="FFFFFF"/>
                </a:solidFill>
                <a:latin typeface="Segoe UI" panose="020B0502040204020203" pitchFamily="34" charset="0"/>
              </a:rPr>
              <a:t>Três contactos e quem fica com a D. Rosa se a Ana não puder. As fotografias dos documentos no telemóvel servem mesmo que a casa se perca numa cheia ou numa guerra.</a:t>
            </a:r>
          </a:p>
        </p:txBody>
      </p:sp>
      <p:sp>
        <p:nvSpPr>
          <p:cNvPr id="12" name="Etiqueta 8">
            <a:extLst>
              <a:ext uri="{FF2B5EF4-FFF2-40B4-BE49-F238E27FC236}">
                <a16:creationId xmlns:a16="http://schemas.microsoft.com/office/drawing/2014/main" id="{685CEA72-A81F-761A-3D47-7A34D48BEA9F}"/>
              </a:ext>
            </a:extLst>
          </p:cNvPr>
          <p:cNvSpPr/>
          <p:nvPr/>
        </p:nvSpPr>
        <p:spPr>
          <a:xfrm>
            <a:off x="1803400" y="5003800"/>
            <a:ext cx="5080000" cy="11430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t"/>
          <a:lstStyle/>
          <a:p>
            <a:r>
              <a:rPr lang="pt-PT" sz="1500" b="1" dirty="0">
                <a:solidFill>
                  <a:srgbClr val="FFFFFF"/>
                </a:solidFill>
                <a:latin typeface="Segoe UI" panose="020B0502040204020203" pitchFamily="34" charset="0"/>
              </a:rPr>
              <a:t>L2 · O kit</a:t>
            </a:r>
          </a:p>
          <a:p>
            <a:r>
              <a:rPr lang="pt-PT" sz="1200" dirty="0">
                <a:solidFill>
                  <a:srgbClr val="FFFFFF"/>
                </a:solidFill>
                <a:latin typeface="Segoe UI" panose="020B0502040204020203" pitchFamily="34" charset="0"/>
              </a:rPr>
              <a:t>O saco fica sempre aqui, pronto a sair. Num incêndio, numa cheia ou numa guerra pode haver só minutos.</a:t>
            </a:r>
          </a:p>
        </p:txBody>
      </p:sp>
      <p:pic>
        <p:nvPicPr>
          <p:cNvPr id="55" name="Audio 54">
            <a:hlinkClick r:id="" action="ppaction://media"/>
            <a:extLst>
              <a:ext uri="{FF2B5EF4-FFF2-40B4-BE49-F238E27FC236}">
                <a16:creationId xmlns:a16="http://schemas.microsoft.com/office/drawing/2014/main" id="{F701A0EC-8B5F-76A7-6E3F-D2E2E80E08D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528"/>
    </mc:Choice>
    <mc:Fallback xmlns="">
      <p:transition spd="slow" advTm="715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602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1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4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19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3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38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5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57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8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6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8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 mute="1">
                <p:cTn id="59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audio isNarration="1">
              <p:cMediaNode vol="80000" showWhenStopped="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5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  <p:extLst>
    <p:ext uri="{E180D4A7-C9FB-4DFB-919C-405C955672EB}">
      <p14:showEvtLst xmlns:p14="http://schemas.microsoft.com/office/powerpoint/2010/main">
        <p14:playEvt time="35" objId="3"/>
        <p14:stopEvt time="66046" objId="3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4EE0E13-1131-FD96-7A1F-8B99E7BB1563}"/>
              </a:ext>
            </a:extLst>
          </p:cNvPr>
          <p:cNvSpPr/>
          <p:nvPr/>
        </p:nvSpPr>
        <p:spPr>
          <a:xfrm>
            <a:off x="0" y="0"/>
            <a:ext cx="6096000" cy="6705600"/>
          </a:xfrm>
          <a:prstGeom prst="rect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21B324-4E87-2A1E-1482-4364997F34DA}"/>
              </a:ext>
            </a:extLst>
          </p:cNvPr>
          <p:cNvSpPr txBox="1"/>
          <p:nvPr/>
        </p:nvSpPr>
        <p:spPr>
          <a:xfrm>
            <a:off x="381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2F6DB5"/>
                </a:solidFill>
                <a:latin typeface="Segoe UI" panose="020B0502040204020203" pitchFamily="34" charset="0"/>
              </a:rPr>
              <a:t>A ficha da pessoa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AB0DBD-B979-3B0C-B0A0-02C8CDF1694C}"/>
              </a:ext>
            </a:extLst>
          </p:cNvPr>
          <p:cNvSpPr txBox="1"/>
          <p:nvPr/>
        </p:nvSpPr>
        <p:spPr>
          <a:xfrm>
            <a:off x="381000" y="4953000"/>
            <a:ext cx="533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2F6DB5"/>
                </a:solidFill>
                <a:latin typeface="Segoe UI" panose="020B0502040204020203" pitchFamily="34" charset="0"/>
              </a:rPr>
              <a:t>O que acalma  ·  O que perturba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3725BC4-91D2-1364-4C20-075A9020AE16}"/>
              </a:ext>
            </a:extLst>
          </p:cNvPr>
          <p:cNvSpPr/>
          <p:nvPr/>
        </p:nvSpPr>
        <p:spPr>
          <a:xfrm>
            <a:off x="6089650" y="0"/>
            <a:ext cx="6096000" cy="6705600"/>
          </a:xfrm>
          <a:prstGeom prst="rect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AF621D-AA43-A72E-575D-B88C546D0C33}"/>
              </a:ext>
            </a:extLst>
          </p:cNvPr>
          <p:cNvSpPr txBox="1"/>
          <p:nvPr/>
        </p:nvSpPr>
        <p:spPr>
          <a:xfrm>
            <a:off x="6477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9A9A9A"/>
                </a:solidFill>
                <a:latin typeface="Segoe UI" panose="020B0502040204020203" pitchFamily="34" charset="0"/>
              </a:rPr>
              <a:t>Quem cuida</a:t>
            </a:r>
          </a:p>
        </p:txBody>
      </p:sp>
      <p:pic>
        <p:nvPicPr>
          <p:cNvPr id="9" name="Ana preenche a ficha" descr="A Ana marca, um a um, os campos de uma ficha numa prancheta.">
            <a:extLst>
              <a:ext uri="{FF2B5EF4-FFF2-40B4-BE49-F238E27FC236}">
                <a16:creationId xmlns:a16="http://schemas.microsoft.com/office/drawing/2014/main" id="{476E45FC-C208-015A-1CA8-398C610FFE5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270000"/>
            <a:ext cx="3302000" cy="3302000"/>
          </a:xfrm>
          <a:prstGeom prst="rect">
            <a:avLst/>
          </a:prstGeom>
        </p:spPr>
      </p:pic>
      <p:pic>
        <p:nvPicPr>
          <p:cNvPr id="37" name="Audio 36">
            <a:hlinkClick r:id="" action="ppaction://media"/>
            <a:extLst>
              <a:ext uri="{FF2B5EF4-FFF2-40B4-BE49-F238E27FC236}">
                <a16:creationId xmlns:a16="http://schemas.microsoft.com/office/drawing/2014/main" id="{5AC109C9-38FB-DE81-7845-73EDD3F880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68"/>
    </mc:Choice>
    <mc:Fallback xmlns="">
      <p:transition spd="slow" advTm="225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1A0DFF-107A-7754-3934-89714CB6E31F}"/>
              </a:ext>
            </a:extLst>
          </p:cNvPr>
          <p:cNvSpPr/>
          <p:nvPr/>
        </p:nvSpPr>
        <p:spPr>
          <a:xfrm>
            <a:off x="0" y="0"/>
            <a:ext cx="6096000" cy="6705600"/>
          </a:xfrm>
          <a:prstGeom prst="rect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D5D90D-BF51-19BA-8C3F-8CEA90DD65DB}"/>
              </a:ext>
            </a:extLst>
          </p:cNvPr>
          <p:cNvSpPr txBox="1"/>
          <p:nvPr/>
        </p:nvSpPr>
        <p:spPr>
          <a:xfrm>
            <a:off x="381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9A9A9A"/>
                </a:solidFill>
                <a:latin typeface="Segoe UI" panose="020B0502040204020203" pitchFamily="34" charset="0"/>
              </a:rPr>
              <a:t>A pessoa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0252223-0D5A-57AF-120D-C84BCEAB0516}"/>
              </a:ext>
            </a:extLst>
          </p:cNvPr>
          <p:cNvSpPr/>
          <p:nvPr/>
        </p:nvSpPr>
        <p:spPr>
          <a:xfrm>
            <a:off x="6096000" y="0"/>
            <a:ext cx="6096000" cy="6705600"/>
          </a:xfrm>
          <a:prstGeom prst="rect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A8C3B2-609A-C9A8-1F27-15CE7B12E329}"/>
              </a:ext>
            </a:extLst>
          </p:cNvPr>
          <p:cNvSpPr txBox="1"/>
          <p:nvPr/>
        </p:nvSpPr>
        <p:spPr>
          <a:xfrm>
            <a:off x="6477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E07B2E"/>
                </a:solidFill>
                <a:latin typeface="Segoe UI" panose="020B0502040204020203" pitchFamily="34" charset="0"/>
              </a:rPr>
              <a:t>Um plano para si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664687-7503-C8AE-0614-86B482493817}"/>
              </a:ext>
            </a:extLst>
          </p:cNvPr>
          <p:cNvSpPr txBox="1"/>
          <p:nvPr/>
        </p:nvSpPr>
        <p:spPr>
          <a:xfrm>
            <a:off x="6477000" y="4953000"/>
            <a:ext cx="533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E07B2E"/>
                </a:solidFill>
                <a:latin typeface="Segoe UI" panose="020B0502040204020203" pitchFamily="34" charset="0"/>
              </a:rPr>
              <a:t>3 contactos  ·  Substituto  ·  112 e SNS 24</a:t>
            </a:r>
          </a:p>
        </p:txBody>
      </p:sp>
      <p:pic>
        <p:nvPicPr>
          <p:cNvPr id="9" name="Ana ao telefone" descr="A Ana fala ao telefone com um contacto da sua rede de apoio.">
            <a:extLst>
              <a:ext uri="{FF2B5EF4-FFF2-40B4-BE49-F238E27FC236}">
                <a16:creationId xmlns:a16="http://schemas.microsoft.com/office/drawing/2014/main" id="{F4D44D86-F5EC-D41B-9194-C61359C97D2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270000"/>
            <a:ext cx="3302000" cy="3302000"/>
          </a:xfrm>
          <a:prstGeom prst="rect">
            <a:avLst/>
          </a:prstGeom>
        </p:spPr>
      </p:pic>
      <p:sp>
        <p:nvSpPr>
          <p:cNvPr id="10" name="Nome do contacto">
            <a:extLst>
              <a:ext uri="{FF2B5EF4-FFF2-40B4-BE49-F238E27FC236}">
                <a16:creationId xmlns:a16="http://schemas.microsoft.com/office/drawing/2014/main" id="{D9DE6CB4-25CD-DE9D-7EE4-B18E62E19172}"/>
              </a:ext>
            </a:extLst>
          </p:cNvPr>
          <p:cNvSpPr/>
          <p:nvPr/>
        </p:nvSpPr>
        <p:spPr>
          <a:xfrm>
            <a:off x="8916162" y="2087245"/>
            <a:ext cx="396240" cy="156845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sz="800" b="1">
                <a:solidFill>
                  <a:srgbClr val="26323A"/>
                </a:solidFill>
              </a:rPr>
              <a:t>Vizinha</a:t>
            </a:r>
          </a:p>
        </p:txBody>
      </p:sp>
      <p:pic>
        <p:nvPicPr>
          <p:cNvPr id="8" name="Ícone pessoa_laranja" descr="Contacto da rede de apoio">
            <a:extLst>
              <a:ext uri="{FF2B5EF4-FFF2-40B4-BE49-F238E27FC236}">
                <a16:creationId xmlns:a16="http://schemas.microsoft.com/office/drawing/2014/main" id="{DD95F74A-8989-7C6E-46CA-500DAD5C8CB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1600" y="1549400"/>
            <a:ext cx="457200" cy="457200"/>
          </a:xfrm>
          <a:prstGeom prst="rect">
            <a:avLst/>
          </a:prstGeom>
        </p:spPr>
      </p:pic>
      <p:sp>
        <p:nvSpPr>
          <p:cNvPr id="11" name="Contacto 1">
            <a:extLst>
              <a:ext uri="{FF2B5EF4-FFF2-40B4-BE49-F238E27FC236}">
                <a16:creationId xmlns:a16="http://schemas.microsoft.com/office/drawing/2014/main" id="{BBC65575-9C8A-B20B-6408-22DB8934F75C}"/>
              </a:ext>
            </a:extLst>
          </p:cNvPr>
          <p:cNvSpPr txBox="1"/>
          <p:nvPr/>
        </p:nvSpPr>
        <p:spPr>
          <a:xfrm>
            <a:off x="6045200" y="2006600"/>
            <a:ext cx="127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 algn="ctr"/>
            <a:r>
              <a:rPr lang="pt-PT" sz="1100">
                <a:solidFill>
                  <a:srgbClr val="34495E"/>
                </a:solidFill>
                <a:latin typeface="Segoe UI" panose="020B0502040204020203" pitchFamily="34" charset="0"/>
              </a:rPr>
              <a:t>Irmão</a:t>
            </a:r>
          </a:p>
        </p:txBody>
      </p:sp>
      <p:pic>
        <p:nvPicPr>
          <p:cNvPr id="13" name="Ícone pessoa_laranja" descr="Contacto da rede de apoio">
            <a:extLst>
              <a:ext uri="{FF2B5EF4-FFF2-40B4-BE49-F238E27FC236}">
                <a16:creationId xmlns:a16="http://schemas.microsoft.com/office/drawing/2014/main" id="{ED44779D-C886-CADC-A107-078E7C02B96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1600" y="2540000"/>
            <a:ext cx="457200" cy="457200"/>
          </a:xfrm>
          <a:prstGeom prst="rect">
            <a:avLst/>
          </a:prstGeom>
        </p:spPr>
      </p:pic>
      <p:sp>
        <p:nvSpPr>
          <p:cNvPr id="14" name="Contacto 2">
            <a:extLst>
              <a:ext uri="{FF2B5EF4-FFF2-40B4-BE49-F238E27FC236}">
                <a16:creationId xmlns:a16="http://schemas.microsoft.com/office/drawing/2014/main" id="{35D8EB89-3BF4-50AB-388C-989DCA732769}"/>
              </a:ext>
            </a:extLst>
          </p:cNvPr>
          <p:cNvSpPr txBox="1"/>
          <p:nvPr/>
        </p:nvSpPr>
        <p:spPr>
          <a:xfrm>
            <a:off x="6045200" y="2997200"/>
            <a:ext cx="127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 algn="ctr"/>
            <a:r>
              <a:rPr lang="pt-PT" sz="1100">
                <a:solidFill>
                  <a:srgbClr val="34495E"/>
                </a:solidFill>
                <a:latin typeface="Segoe UI" panose="020B0502040204020203" pitchFamily="34" charset="0"/>
              </a:rPr>
              <a:t>Vizinha</a:t>
            </a:r>
          </a:p>
        </p:txBody>
      </p:sp>
      <p:pic>
        <p:nvPicPr>
          <p:cNvPr id="16" name="Ícone pessoa_laranja" descr="Contacto da rede de apoio">
            <a:extLst>
              <a:ext uri="{FF2B5EF4-FFF2-40B4-BE49-F238E27FC236}">
                <a16:creationId xmlns:a16="http://schemas.microsoft.com/office/drawing/2014/main" id="{D49303A2-DC7A-E9A0-CD5C-86A981963CE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1600" y="3530600"/>
            <a:ext cx="457200" cy="457200"/>
          </a:xfrm>
          <a:prstGeom prst="rect">
            <a:avLst/>
          </a:prstGeom>
        </p:spPr>
      </p:pic>
      <p:sp>
        <p:nvSpPr>
          <p:cNvPr id="17" name="Contacto 3">
            <a:extLst>
              <a:ext uri="{FF2B5EF4-FFF2-40B4-BE49-F238E27FC236}">
                <a16:creationId xmlns:a16="http://schemas.microsoft.com/office/drawing/2014/main" id="{EEF50C85-4CC2-4EAA-3680-AC9FC935FAE0}"/>
              </a:ext>
            </a:extLst>
          </p:cNvPr>
          <p:cNvSpPr txBox="1"/>
          <p:nvPr/>
        </p:nvSpPr>
        <p:spPr>
          <a:xfrm>
            <a:off x="6045200" y="3987800"/>
            <a:ext cx="127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 algn="ctr"/>
            <a:r>
              <a:rPr lang="pt-PT" sz="1100">
                <a:solidFill>
                  <a:srgbClr val="34495E"/>
                </a:solidFill>
                <a:latin typeface="Segoe UI" panose="020B0502040204020203" pitchFamily="34" charset="0"/>
              </a:rPr>
              <a:t>Amiga · substituta</a:t>
            </a:r>
          </a:p>
        </p:txBody>
      </p:sp>
      <p:sp>
        <p:nvSpPr>
          <p:cNvPr id="18" name="Número 112">
            <a:extLst>
              <a:ext uri="{FF2B5EF4-FFF2-40B4-BE49-F238E27FC236}">
                <a16:creationId xmlns:a16="http://schemas.microsoft.com/office/drawing/2014/main" id="{DB0FA9D4-CD16-DF11-3E8C-39D2F5B8309A}"/>
              </a:ext>
            </a:extLst>
          </p:cNvPr>
          <p:cNvSpPr/>
          <p:nvPr/>
        </p:nvSpPr>
        <p:spPr>
          <a:xfrm>
            <a:off x="10998200" y="2095500"/>
            <a:ext cx="965200" cy="4064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300" b="1">
                <a:solidFill>
                  <a:srgbClr val="FFFFFF"/>
                </a:solidFill>
                <a:latin typeface="Segoe UI" panose="020B0502040204020203" pitchFamily="34" charset="0"/>
              </a:rPr>
              <a:t>112</a:t>
            </a:r>
          </a:p>
        </p:txBody>
      </p:sp>
      <p:sp>
        <p:nvSpPr>
          <p:cNvPr id="19" name="Número SNS 24">
            <a:extLst>
              <a:ext uri="{FF2B5EF4-FFF2-40B4-BE49-F238E27FC236}">
                <a16:creationId xmlns:a16="http://schemas.microsoft.com/office/drawing/2014/main" id="{CB424585-B2DB-E7DF-58DC-4D0733F3D843}"/>
              </a:ext>
            </a:extLst>
          </p:cNvPr>
          <p:cNvSpPr/>
          <p:nvPr/>
        </p:nvSpPr>
        <p:spPr>
          <a:xfrm>
            <a:off x="10998200" y="2679700"/>
            <a:ext cx="965200" cy="4064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300" b="1">
                <a:solidFill>
                  <a:srgbClr val="FFFFFF"/>
                </a:solidFill>
                <a:latin typeface="Segoe UI" panose="020B0502040204020203" pitchFamily="34" charset="0"/>
              </a:rPr>
              <a:t>SNS 24</a:t>
            </a:r>
          </a:p>
        </p:txBody>
      </p:sp>
      <p:pic>
        <p:nvPicPr>
          <p:cNvPr id="40" name="Audio 39">
            <a:hlinkClick r:id="" action="ppaction://media"/>
            <a:extLst>
              <a:ext uri="{FF2B5EF4-FFF2-40B4-BE49-F238E27FC236}">
                <a16:creationId xmlns:a16="http://schemas.microsoft.com/office/drawing/2014/main" id="{4900821B-AD5D-03DD-3252-165DB7A69D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85"/>
    </mc:Choice>
    <mc:Fallback xmlns="">
      <p:transition spd="slow" advTm="220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CDE6F8-9A3F-5718-E1EA-69C347AE8AB6}"/>
              </a:ext>
            </a:extLst>
          </p:cNvPr>
          <p:cNvSpPr txBox="1"/>
          <p:nvPr/>
        </p:nvSpPr>
        <p:spPr>
          <a:xfrm>
            <a:off x="762000" y="381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Ficar ou sair?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571022-AC42-EE0E-D08C-F7429428B7DF}"/>
              </a:ext>
            </a:extLst>
          </p:cNvPr>
          <p:cNvSpPr txBox="1"/>
          <p:nvPr/>
        </p:nvSpPr>
        <p:spPr>
          <a:xfrm>
            <a:off x="762000" y="1016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Nem todas as crises obrigam a sair.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DD61C3D-2E22-65B2-6692-80078C05DAD1}"/>
              </a:ext>
            </a:extLst>
          </p:cNvPr>
          <p:cNvGrpSpPr/>
          <p:nvPr/>
        </p:nvGrpSpPr>
        <p:grpSpPr>
          <a:xfrm>
            <a:off x="889000" y="1778000"/>
            <a:ext cx="3048000" cy="3810000"/>
            <a:chOff x="889000" y="1778000"/>
            <a:chExt cx="3048000" cy="3810000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02E18311-0C57-3300-2915-F3CF0D6AB028}"/>
                </a:ext>
              </a:extLst>
            </p:cNvPr>
            <p:cNvSpPr/>
            <p:nvPr/>
          </p:nvSpPr>
          <p:spPr>
            <a:xfrm>
              <a:off x="889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6327B1-F986-D0B0-1A69-A9E946968218}"/>
                </a:ext>
              </a:extLst>
            </p:cNvPr>
            <p:cNvSpPr/>
            <p:nvPr/>
          </p:nvSpPr>
          <p:spPr>
            <a:xfrm>
              <a:off x="2032000" y="2032000"/>
              <a:ext cx="762000" cy="762000"/>
            </a:xfrm>
            <a:prstGeom prst="ellipse">
              <a:avLst/>
            </a:prstGeom>
            <a:solidFill>
              <a:srgbClr val="2F6DB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17D0EBA-250D-743D-DF76-9DBBC8A68BF1}"/>
                </a:ext>
              </a:extLst>
            </p:cNvPr>
            <p:cNvSpPr txBox="1"/>
            <p:nvPr/>
          </p:nvSpPr>
          <p:spPr>
            <a:xfrm>
              <a:off x="889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Ficar em casa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1EEA7BF-4FEA-8736-0388-2321EA24B0E7}"/>
                </a:ext>
              </a:extLst>
            </p:cNvPr>
            <p:cNvSpPr txBox="1"/>
            <p:nvPr/>
          </p:nvSpPr>
          <p:spPr>
            <a:xfrm>
              <a:off x="1079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Água, comida, lanterna e medicação à mão.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B4F072C-8982-16DD-D113-DD4DC8F440A3}"/>
              </a:ext>
            </a:extLst>
          </p:cNvPr>
          <p:cNvGrpSpPr/>
          <p:nvPr/>
        </p:nvGrpSpPr>
        <p:grpSpPr>
          <a:xfrm>
            <a:off x="4572000" y="1778000"/>
            <a:ext cx="3048000" cy="3810000"/>
            <a:chOff x="4572000" y="1778000"/>
            <a:chExt cx="3048000" cy="3810000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2B91080-FDFE-5319-6A22-4A8C1481983F}"/>
                </a:ext>
              </a:extLst>
            </p:cNvPr>
            <p:cNvSpPr/>
            <p:nvPr/>
          </p:nvSpPr>
          <p:spPr>
            <a:xfrm>
              <a:off x="4572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F096C3-C2A9-9901-AB80-9AFA364C41FB}"/>
                </a:ext>
              </a:extLst>
            </p:cNvPr>
            <p:cNvSpPr/>
            <p:nvPr/>
          </p:nvSpPr>
          <p:spPr>
            <a:xfrm>
              <a:off x="5715000" y="2032000"/>
              <a:ext cx="762000" cy="762000"/>
            </a:xfrm>
            <a:prstGeom prst="ellipse">
              <a:avLst/>
            </a:prstGeom>
            <a:solidFill>
              <a:srgbClr val="2F6DB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6DFE093-891C-DB2B-6F55-72B8C150470D}"/>
                </a:ext>
              </a:extLst>
            </p:cNvPr>
            <p:cNvSpPr txBox="1"/>
            <p:nvPr/>
          </p:nvSpPr>
          <p:spPr>
            <a:xfrm>
              <a:off x="4572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Sair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925F865-BC24-6A58-7FC6-77E8A3BFEE5D}"/>
                </a:ext>
              </a:extLst>
            </p:cNvPr>
            <p:cNvSpPr txBox="1"/>
            <p:nvPr/>
          </p:nvSpPr>
          <p:spPr>
            <a:xfrm>
              <a:off x="4762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Levar o kit e saber para onde vai.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6907F6A-DF65-E25B-7C50-7C610351CC39}"/>
              </a:ext>
            </a:extLst>
          </p:cNvPr>
          <p:cNvGrpSpPr/>
          <p:nvPr/>
        </p:nvGrpSpPr>
        <p:grpSpPr>
          <a:xfrm>
            <a:off x="8255000" y="1778000"/>
            <a:ext cx="3048000" cy="3810000"/>
            <a:chOff x="8255000" y="1778000"/>
            <a:chExt cx="3048000" cy="38100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2B19BD6-2489-750B-F549-E3149B7D369C}"/>
                </a:ext>
              </a:extLst>
            </p:cNvPr>
            <p:cNvSpPr/>
            <p:nvPr/>
          </p:nvSpPr>
          <p:spPr>
            <a:xfrm>
              <a:off x="8255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F624B2-FFD2-6FD2-E09E-67EE444AE575}"/>
                </a:ext>
              </a:extLst>
            </p:cNvPr>
            <p:cNvSpPr/>
            <p:nvPr/>
          </p:nvSpPr>
          <p:spPr>
            <a:xfrm>
              <a:off x="9398000" y="2032000"/>
              <a:ext cx="762000" cy="762000"/>
            </a:xfrm>
            <a:prstGeom prst="ellipse">
              <a:avLst/>
            </a:prstGeom>
            <a:solidFill>
              <a:srgbClr val="E07B2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76D1719-F887-F000-FA24-D01E3232A915}"/>
                </a:ext>
              </a:extLst>
            </p:cNvPr>
            <p:cNvSpPr txBox="1"/>
            <p:nvPr/>
          </p:nvSpPr>
          <p:spPr>
            <a:xfrm>
              <a:off x="8255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Nos dois casos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311BE30-5CF0-2239-C80E-217A0669FAE8}"/>
                </a:ext>
              </a:extLst>
            </p:cNvPr>
            <p:cNvSpPr txBox="1"/>
            <p:nvPr/>
          </p:nvSpPr>
          <p:spPr>
            <a:xfrm>
              <a:off x="8445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Refeições, medicamentos e sono às mesmas horas.</a:t>
              </a:r>
            </a:p>
          </p:txBody>
        </p:sp>
      </p:grpSp>
      <p:pic>
        <p:nvPicPr>
          <p:cNvPr id="15" name="Ícone casa_branco" descr="Casa">
            <a:extLst>
              <a:ext uri="{FF2B5EF4-FFF2-40B4-BE49-F238E27FC236}">
                <a16:creationId xmlns:a16="http://schemas.microsoft.com/office/drawing/2014/main" id="{9C0F6657-9A63-6A77-D48E-3F05542EB4B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7100" y="2197100"/>
            <a:ext cx="431800" cy="431800"/>
          </a:xfrm>
          <a:prstGeom prst="rect">
            <a:avLst/>
          </a:prstGeom>
        </p:spPr>
      </p:pic>
      <p:pic>
        <p:nvPicPr>
          <p:cNvPr id="22" name="Ícone sair_branco" descr="Sair de casa">
            <a:extLst>
              <a:ext uri="{FF2B5EF4-FFF2-40B4-BE49-F238E27FC236}">
                <a16:creationId xmlns:a16="http://schemas.microsoft.com/office/drawing/2014/main" id="{C7C48E9B-03B6-5778-58BA-49194F5FC9F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0100" y="2197100"/>
            <a:ext cx="431800" cy="431800"/>
          </a:xfrm>
          <a:prstGeom prst="rect">
            <a:avLst/>
          </a:prstGeom>
        </p:spPr>
      </p:pic>
      <p:pic>
        <p:nvPicPr>
          <p:cNvPr id="24" name="Ícone relogio_branco" descr="Relógio: as mesmas horas">
            <a:extLst>
              <a:ext uri="{FF2B5EF4-FFF2-40B4-BE49-F238E27FC236}">
                <a16:creationId xmlns:a16="http://schemas.microsoft.com/office/drawing/2014/main" id="{3A914F8C-28EB-384E-1FC2-FFAFD3D998A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63100" y="2197100"/>
            <a:ext cx="431800" cy="431800"/>
          </a:xfrm>
          <a:prstGeom prst="rect">
            <a:avLst/>
          </a:prstGeom>
        </p:spPr>
      </p:pic>
      <p:pic>
        <p:nvPicPr>
          <p:cNvPr id="37" name="Audio 36">
            <a:hlinkClick r:id="" action="ppaction://media"/>
            <a:extLst>
              <a:ext uri="{FF2B5EF4-FFF2-40B4-BE49-F238E27FC236}">
                <a16:creationId xmlns:a16="http://schemas.microsoft.com/office/drawing/2014/main" id="{80438CFB-A52B-6219-F6C7-FB3069A55C1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15"/>
    </mc:Choice>
    <mc:Fallback xmlns="">
      <p:transition spd="slow" advTm="197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829D6D9-49C5-F8BB-486B-67F57B098316}"/>
              </a:ext>
            </a:extLst>
          </p:cNvPr>
          <p:cNvSpPr txBox="1"/>
          <p:nvPr/>
        </p:nvSpPr>
        <p:spPr>
          <a:xfrm>
            <a:off x="762000" y="635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Em resumo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A42AEC2-929C-4FFE-5E67-8A54458645D4}"/>
              </a:ext>
            </a:extLst>
          </p:cNvPr>
          <p:cNvSpPr/>
          <p:nvPr/>
        </p:nvSpPr>
        <p:spPr>
          <a:xfrm>
            <a:off x="1778000" y="1778000"/>
            <a:ext cx="8636000" cy="889000"/>
          </a:xfrm>
          <a:prstGeom prst="roundRect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0" rtlCol="0" anchor="ctr"/>
          <a:lstStyle/>
          <a:p>
            <a:pPr algn="ctr"/>
            <a:r>
              <a:rPr lang="pt-PT" sz="2200" b="1">
                <a:solidFill>
                  <a:srgbClr val="2F6DB5"/>
                </a:solidFill>
                <a:latin typeface="Segoe UI" panose="020B0502040204020203" pitchFamily="34" charset="0"/>
              </a:rPr>
              <a:t>O kit junto à porta e a ficha no frigorífico.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70663AF-9A24-11AC-5BA9-19F724A3A6F4}"/>
              </a:ext>
            </a:extLst>
          </p:cNvPr>
          <p:cNvSpPr/>
          <p:nvPr/>
        </p:nvSpPr>
        <p:spPr>
          <a:xfrm>
            <a:off x="1778000" y="2921000"/>
            <a:ext cx="8636000" cy="889000"/>
          </a:xfrm>
          <a:prstGeom prst="roundRect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0" rtlCol="0" anchor="ctr"/>
          <a:lstStyle/>
          <a:p>
            <a:pPr algn="ctr"/>
            <a:r>
              <a:rPr lang="pt-PT" sz="2200" b="1">
                <a:solidFill>
                  <a:srgbClr val="E07B2E"/>
                </a:solidFill>
                <a:latin typeface="Segoe UI" panose="020B0502040204020203" pitchFamily="34" charset="0"/>
              </a:rPr>
              <a:t>Um plano de apoio e quem fica no seu lugar.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47A76B-50A2-A3F0-C954-9400452FA9FA}"/>
              </a:ext>
            </a:extLst>
          </p:cNvPr>
          <p:cNvSpPr txBox="1"/>
          <p:nvPr/>
        </p:nvSpPr>
        <p:spPr>
          <a:xfrm>
            <a:off x="762000" y="4318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400">
                <a:solidFill>
                  <a:srgbClr val="34495E"/>
                </a:solidFill>
                <a:latin typeface="Segoe UI" panose="020B0502040204020203" pitchFamily="34" charset="0"/>
              </a:rPr>
              <a:t>O que prepara hoje poupa minutos, e medo, no dia da crise.</a:t>
            </a:r>
          </a:p>
        </p:txBody>
      </p:sp>
      <p:pic>
        <p:nvPicPr>
          <p:cNvPr id="7" name="Ícone saco_azul_ok" descr="Kit feito">
            <a:extLst>
              <a:ext uri="{FF2B5EF4-FFF2-40B4-BE49-F238E27FC236}">
                <a16:creationId xmlns:a16="http://schemas.microsoft.com/office/drawing/2014/main" id="{FA80262B-DF08-11AC-EDFA-B85D6BE0430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6600" y="1930400"/>
            <a:ext cx="584200" cy="584200"/>
          </a:xfrm>
          <a:prstGeom prst="rect">
            <a:avLst/>
          </a:prstGeom>
        </p:spPr>
      </p:pic>
      <p:pic>
        <p:nvPicPr>
          <p:cNvPr id="9" name="Ícone ficha_azul_ok" descr="Ficha feita">
            <a:extLst>
              <a:ext uri="{FF2B5EF4-FFF2-40B4-BE49-F238E27FC236}">
                <a16:creationId xmlns:a16="http://schemas.microsoft.com/office/drawing/2014/main" id="{D4571C43-45CA-70D2-98F8-B233915263A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7000" y="1930400"/>
            <a:ext cx="584200" cy="584200"/>
          </a:xfrm>
          <a:prstGeom prst="rect">
            <a:avLst/>
          </a:prstGeom>
        </p:spPr>
      </p:pic>
      <p:pic>
        <p:nvPicPr>
          <p:cNvPr id="11" name="Ícone telefone_laranja_ok" descr="Plano de apoio feito">
            <a:extLst>
              <a:ext uri="{FF2B5EF4-FFF2-40B4-BE49-F238E27FC236}">
                <a16:creationId xmlns:a16="http://schemas.microsoft.com/office/drawing/2014/main" id="{452035AD-96F9-230B-4807-49270FBD38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6800" y="3073400"/>
            <a:ext cx="584200" cy="584200"/>
          </a:xfrm>
          <a:prstGeom prst="rect">
            <a:avLst/>
          </a:prstGeom>
        </p:spPr>
      </p:pic>
      <p:pic>
        <p:nvPicPr>
          <p:cNvPr id="6" name="Música">
            <a:hlinkClick r:id="" action="ppaction://media"/>
            <a:extLst>
              <a:ext uri="{FF2B5EF4-FFF2-40B4-BE49-F238E27FC236}">
                <a16:creationId xmlns:a16="http://schemas.microsoft.com/office/drawing/2014/main" id="{58FB5146-3AD6-ECB1-CB20-6A5CFB6AE0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524000" y="254000"/>
            <a:ext cx="609600" cy="609600"/>
          </a:xfrm>
          <a:prstGeom prst="rect">
            <a:avLst/>
          </a:prstGeom>
        </p:spPr>
      </p:pic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255DF38F-782D-1B9F-1E2D-06EE3457D7E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82"/>
    </mc:Choice>
    <mc:Fallback xmlns="">
      <p:transition spd="slow" advTm="111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" numSld="2" showWhenStopped="0">
                <p:cTn id="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42" objId="6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97E0EC2-E6B3-72E0-10CC-22B5F357D892}"/>
              </a:ext>
            </a:extLst>
          </p:cNvPr>
          <p:cNvSpPr txBox="1"/>
          <p:nvPr/>
        </p:nvSpPr>
        <p:spPr>
          <a:xfrm>
            <a:off x="762000" y="508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O caminho do curso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877154-B11B-A2B8-7969-CEF36DFD6AC9}"/>
              </a:ext>
            </a:extLst>
          </p:cNvPr>
          <p:cNvSpPr/>
          <p:nvPr/>
        </p:nvSpPr>
        <p:spPr>
          <a:xfrm>
            <a:off x="508000" y="2032000"/>
            <a:ext cx="2032000" cy="2540000"/>
          </a:xfrm>
          <a:prstGeom prst="roundRect">
            <a:avLst/>
          </a:prstGeom>
          <a:solidFill>
            <a:srgbClr val="ECEAE6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9A9A9A"/>
                </a:solidFill>
                <a:latin typeface="Segoe UI" panose="020B0502040204020203" pitchFamily="34" charset="0"/>
              </a:rPr>
              <a:t>L1</a:t>
            </a:r>
          </a:p>
          <a:p>
            <a:pPr algn="ctr"/>
            <a:r>
              <a:rPr lang="pt-PT" sz="1500">
                <a:solidFill>
                  <a:srgbClr val="9A9A9A"/>
                </a:solidFill>
                <a:latin typeface="Segoe UI" panose="020B0502040204020203" pitchFamily="34" charset="0"/>
              </a:rPr>
              <a:t>Crise, demência e quem cuida</a:t>
            </a:r>
          </a:p>
          <a:p>
            <a:pPr algn="ctr"/>
            <a:r>
              <a:rPr lang="pt-PT" sz="1300" i="1">
                <a:solidFill>
                  <a:srgbClr val="9A9A9A"/>
                </a:solidFill>
                <a:latin typeface="Segoe UI" panose="020B0502040204020203" pitchFamily="34" charset="0"/>
              </a:rPr>
              <a:t>Compreender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B73A106-A9E9-B151-573F-E7B503A66969}"/>
              </a:ext>
            </a:extLst>
          </p:cNvPr>
          <p:cNvSpPr/>
          <p:nvPr/>
        </p:nvSpPr>
        <p:spPr>
          <a:xfrm>
            <a:off x="2794000" y="2032000"/>
            <a:ext cx="2032000" cy="2540000"/>
          </a:xfrm>
          <a:prstGeom prst="roundRect">
            <a:avLst/>
          </a:prstGeom>
          <a:solidFill>
            <a:srgbClr val="ECEAE6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9A9A9A"/>
                </a:solidFill>
                <a:latin typeface="Segoe UI" panose="020B0502040204020203" pitchFamily="34" charset="0"/>
              </a:rPr>
              <a:t>L2</a:t>
            </a:r>
          </a:p>
          <a:p>
            <a:pPr algn="ctr"/>
            <a:r>
              <a:rPr lang="pt-PT" sz="1500">
                <a:solidFill>
                  <a:srgbClr val="9A9A9A"/>
                </a:solidFill>
                <a:latin typeface="Segoe UI" panose="020B0502040204020203" pitchFamily="34" charset="0"/>
              </a:rPr>
              <a:t>Preparar antes</a:t>
            </a:r>
          </a:p>
          <a:p>
            <a:pPr algn="ctr"/>
            <a:r>
              <a:rPr lang="pt-PT" sz="1300" i="1">
                <a:solidFill>
                  <a:srgbClr val="9A9A9A"/>
                </a:solidFill>
                <a:latin typeface="Segoe UI" panose="020B0502040204020203" pitchFamily="34" charset="0"/>
              </a:rPr>
              <a:t>Antes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4ACC80A-077E-5756-AD4F-A50D06CDDA1C}"/>
              </a:ext>
            </a:extLst>
          </p:cNvPr>
          <p:cNvSpPr/>
          <p:nvPr/>
        </p:nvSpPr>
        <p:spPr>
          <a:xfrm>
            <a:off x="5080000" y="2032000"/>
            <a:ext cx="2032000" cy="2540000"/>
          </a:xfrm>
          <a:prstGeom prst="roundRect">
            <a:avLst/>
          </a:prstGeom>
          <a:solidFill>
            <a:srgbClr val="34495E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L3</a:t>
            </a:r>
          </a:p>
          <a:p>
            <a:pPr algn="ctr"/>
            <a:r>
              <a:rPr lang="pt-PT" sz="1500">
                <a:solidFill>
                  <a:srgbClr val="FFFFFF"/>
                </a:solidFill>
                <a:latin typeface="Segoe UI" panose="020B0502040204020203" pitchFamily="34" charset="0"/>
              </a:rPr>
              <a:t>Primeiro contacto: acalmar</a:t>
            </a:r>
          </a:p>
          <a:p>
            <a:pPr algn="ctr"/>
            <a:r>
              <a:rPr lang="pt-PT" sz="1300" i="1">
                <a:solidFill>
                  <a:srgbClr val="FFFFFF"/>
                </a:solidFill>
                <a:latin typeface="Segoe UI" panose="020B0502040204020203" pitchFamily="34" charset="0"/>
              </a:rPr>
              <a:t>Durante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E84FDB9-83B3-E23F-37EB-DDCA4D7DE0A7}"/>
              </a:ext>
            </a:extLst>
          </p:cNvPr>
          <p:cNvSpPr/>
          <p:nvPr/>
        </p:nvSpPr>
        <p:spPr>
          <a:xfrm>
            <a:off x="7366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L4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Necessidades e encaminhamento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Durante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09CB0BC-A459-9CA5-0AF8-7D2B49D64847}"/>
              </a:ext>
            </a:extLst>
          </p:cNvPr>
          <p:cNvSpPr/>
          <p:nvPr/>
        </p:nvSpPr>
        <p:spPr>
          <a:xfrm>
            <a:off x="9652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L5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Depois da crise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Depois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D97B23-05FC-A373-3472-9D8A19E1AB5E}"/>
              </a:ext>
            </a:extLst>
          </p:cNvPr>
          <p:cNvSpPr txBox="1"/>
          <p:nvPr/>
        </p:nvSpPr>
        <p:spPr>
          <a:xfrm>
            <a:off x="762000" y="5080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400" b="1">
                <a:solidFill>
                  <a:srgbClr val="34495E"/>
                </a:solidFill>
                <a:latin typeface="Segoe UI" panose="020B0502040204020203" pitchFamily="34" charset="0"/>
              </a:rPr>
              <a:t>A seguir: L3 · Primeiro contacto: acalmar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3903D5B0-84AF-3F7E-AA48-9189AE0112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9" name="Créditos">
            <a:extLst>
              <a:ext uri="{FF2B5EF4-FFF2-40B4-BE49-F238E27FC236}">
                <a16:creationId xmlns:a16="http://schemas.microsoft.com/office/drawing/2014/main" id="{282AE5EF-4D78-EF2C-2088-0A2B1EB53BCD}"/>
              </a:ext>
            </a:extLst>
          </p:cNvPr>
          <p:cNvSpPr txBox="1"/>
          <p:nvPr/>
        </p:nvSpPr>
        <p:spPr>
          <a:xfrm>
            <a:off x="762000" y="56896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 sz="1000">
                <a:solidFill>
                  <a:srgbClr val="7F7F7F"/>
                </a:solidFill>
                <a:latin typeface="Segoe UI" panose="020B0502040204020203" pitchFamily="34" charset="0"/>
              </a:rPr>
              <a:t>Ilustrações: </a:t>
            </a:r>
            <a:r>
              <a:rPr lang="pt-PT" sz="1000">
                <a:solidFill>
                  <a:srgbClr val="7F7F7F"/>
                </a:solidFill>
                <a:latin typeface="Segoe U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Illustrations by Storyset</a:t>
            </a:r>
            <a:r>
              <a:rPr lang="pt-PT" sz="1000">
                <a:solidFill>
                  <a:srgbClr val="7F7F7F"/>
                </a:solidFill>
                <a:latin typeface="Segoe UI" panose="020B0502040204020203" pitchFamily="34" charset="0"/>
              </a:rPr>
              <a:t> (storyset.com) · Visita 3D: «La Tarasca», Inmobarrios, Matterport Discover · Música: «High Class», Benjamin Andrews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87"/>
    </mc:Choice>
    <mc:Fallback xmlns="">
      <p:transition spd="slow" advTm="111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2.5|2.8|3.1|2.9|9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4.5|3.8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1254</Words>
  <Application>Microsoft Office PowerPoint</Application>
  <PresentationFormat>Widescreen</PresentationFormat>
  <Paragraphs>98</Paragraphs>
  <Slides>11</Slides>
  <Notes>11</Notes>
  <HiddenSlides>0</HiddenSlides>
  <MMClips>18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Segoe UI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Lopes - BIMMS</dc:creator>
  <cp:lastModifiedBy>Tiago André Torgo Teixeira</cp:lastModifiedBy>
  <cp:revision>17</cp:revision>
  <dcterms:created xsi:type="dcterms:W3CDTF">2026-10-15T13:02:25Z</dcterms:created>
  <dcterms:modified xsi:type="dcterms:W3CDTF">2026-10-25T19:13:36Z</dcterms:modified>
</cp:coreProperties>
</file>