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13A5CB-24AC-41F2-AA93-A7D9BE7E82AD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2BD985-53FC-4BAA-90FB-A8F3DFD1BD80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92416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(Abertura comum do curso: 3 s, só música.)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768714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Esta é a D. Rosa. Vive com demência. Todas as manhãs senta-se na mesma cadeira, junto à janela. O relógio da cozinha diz-lhe que são horas do café. As fotografias na parede lembram-lhe quem é. [pausa] Esta é a Ana, a filha. É ela quem cuida da mãe, todos os dias.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083074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Num fim de tarde de verão, chega um alerta: há um incêndio perto da aldeia e é preciso sair. [pausa] Uma crise muda tudo de um momento para o outro. Para uma pessoa com demência, muda ainda mais. E quem cuida tem de se manter de pé por dois.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708586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O incêndio é só um exemplo. Uma cheia, uma pandemia ou ter de fugir de uma guerra fazem o mesmo: tiram a rotina e as referências de um dia para o outro.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302293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Para a D. Rosa, a casa e a rotina são o que lhe dá segurança. Pode não saber em que dia está, mas sabe onde fica a sua cadeira. Numa crise, isto desaparece: há ruído, luzes, pressa, caras desconhecidas, um sítio novo. A pessoa com demência pode não perceber o que se passa, nem porque tem de sair. É normal que fique mais confusa, com medo ou agitada, ou que se recuse a sair. Não é teimosia. É a doença a reagir a um mundo que, de repente, deixou de fazer sentido.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486497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(Sem narração: aqui entra o vídeo da visita 3D, quando houver casa. Até lá fica este diapositivo.)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767289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E a Ana? Também sente o choque: ansiedade, cansaço, irritação, dificuldade em pensar com clareza. São reações normais a uma situação que não é normal. Mas a Ana já vinha cansada. E numa crise perde, muitas vezes, a ajuda que tinha: o centro de dia, os vizinhos, a família. Nos planos de emergência, as pessoas com demência e quem cuida delas ficam muitas vezes esquecidas. Se a Ana não cuidar de si, não consegue cuidar da mãe.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583569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Há uma forma simples de ajudar nestes momentos: os primeiros socorros psicológicos. Não são terapia e não é preciso ser profissional. São três passos. [pausa] Observar: ver se há perigo, do que a pessoa precisa e como está a reagir. E como está você. [pausa] Escutar: aproximar-se com calma, ouvir sem pressa, ajudar a acalmar. [pausa] Encaminhar: responder às necessidades básicas e saber a quem pedir ajuda. [pausa] Neste curso, vai aplicar estes três passos à pessoa de quem cuida, e a si.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557271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Numa crise, a pessoa com demência perde as suas referências, e quem cuida fica sob pressão. Observar, escutar e encaminhar ajuda os dois.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927857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Mas há muito que pode fazer antes de a crise chegar. É isso que vamos ver na próxima lição: preparar antes.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10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393377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8E1F1F-075B-2D91-267F-26644EDD62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6417F6-4CBF-400E-49DF-E41088AB0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7291F8C1-21EB-1806-79F5-4DDE3CF5C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9DDE7C81-B590-2A77-C522-894F5D90D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B1A6AD76-2CD3-04EE-821D-4800F0FDA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2436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469A6D-A29D-5EC7-5688-6660AC733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F859EED9-6C28-90AE-FAB0-86CC2B65D8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313888DC-5EBA-3E91-570C-BAE28459B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5BEC858A-6845-CBC4-F92A-F068C7A11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48185594-7D3A-BF20-3CFE-0D91ED384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16757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A054DF-2E21-678A-00F2-2DE67B191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EB03F21F-C0D8-8286-757C-901CF1BFCD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C7E9A400-4A36-F08C-14D8-44E7A352E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5900DDEB-EDBA-7942-B0A7-5EDB879BF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34F0F37A-4D39-492B-5985-DFF632F12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02345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53B5CA-3E7F-8C38-EB6C-240759A4F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3A812E1E-24D6-5F79-7E76-40B804677D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2D949235-DB68-86DF-892C-53B692565D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854EFC1A-C1D0-E73B-A53F-9B6CE7ABE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499882E8-550B-5325-79F3-C4D63CA20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E8F85AEE-7BAF-B5DF-318E-6D2A13679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2361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98F281-DE3F-6ADF-7752-BACC77DB2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13567457-50C4-B6EC-83EA-6F76C4267B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CEFC4444-814A-3D69-FD5C-78B2BD5D39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6C931207-D10C-1212-164D-7A1E447790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FFDFD60C-9FEB-47FE-D079-CE4B06E510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FE37E3F8-4252-E533-0EAC-0900E32D1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8C487C7B-DB4A-0B51-E1F1-65EDAD84B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7369A790-DFC4-0E30-1DF0-AE4516D3F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277668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AE14A8-E352-7603-AA5A-9D584AC7C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F07A4406-1EAF-9A78-1F69-38FBD9BC5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2FB5ED84-1214-8D3C-C345-4063876C3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A9BD6262-35B8-8431-4AF7-8168FD0F9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37209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95574D48-4AEF-1382-F9F1-48F987FBE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0C5A5541-3F89-0F01-870D-312C09258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6E373747-C9AC-944E-3CE8-004446360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69649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36132E-382A-0BAA-57FB-AAB942B06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6ACCD732-ACD3-89D2-B888-C319778055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3754C9FA-79E9-C9A6-1AC2-40AAFC260D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D0711362-A26E-5DAE-9CE5-F89FCBA18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AA505FB5-D3FC-0CDF-7A56-5B1413196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05EAA010-EBDE-AF8F-64B2-9C192790D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43479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94F063-E5B0-E75A-493B-547E624609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D3053A23-2460-B1BF-788D-659197028F5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92362CF6-0511-0444-EA44-91FFD70D1F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89E72B51-127C-619F-D2F0-2C37F6D78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33C60BA0-FE7A-B9E3-D650-A05ABB8E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18C83ADA-000E-D148-4772-C8B10E5D4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27240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980A6-D825-E3F7-51F7-8069DB985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E573E013-9B00-ABE0-FC2E-B8ECC8FFD5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FC87235-7554-3730-2DC6-2E46E8B06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D8AB67E2-7863-9034-CF42-E3BACC413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17037512-2DCA-5324-0A60-6EAB048C7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23637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824B04A-BD56-8A71-E540-36F47D31EE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BBB6722F-7D06-6E64-7DDD-A6164E1127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F48AAFC3-012C-A69B-BCF3-7320DF29A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2798B1E1-704F-3A5E-6AB9-C408057FC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2F654CAC-279B-3497-199B-84824874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26508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9FC39659-D52D-DFBF-9BDA-C91DB2DBF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66A7C729-36EE-E05D-1BEC-042CA8F9B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B5C64BD2-23B2-35FB-D426-973DA7B4E2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0823C2-C799-4062-96E7-449EA5610180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0340F031-AC6B-46A9-510B-2A158A7D4B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032064D3-9792-4C0E-84D7-103E10CBF7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74FA2259-49AE-C535-41D9-F5AE7224DEE7}"/>
              </a:ext>
            </a:extLst>
          </p:cNvPr>
          <p:cNvSpPr/>
          <p:nvPr userDrawn="1"/>
        </p:nvSpPr>
        <p:spPr>
          <a:xfrm>
            <a:off x="0" y="6705600"/>
            <a:ext cx="6096000" cy="152400"/>
          </a:xfrm>
          <a:prstGeom prst="rect">
            <a:avLst/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3752BE70-1718-AD39-BEC1-40073533DCAE}"/>
              </a:ext>
            </a:extLst>
          </p:cNvPr>
          <p:cNvSpPr/>
          <p:nvPr userDrawn="1"/>
        </p:nvSpPr>
        <p:spPr>
          <a:xfrm>
            <a:off x="6096000" y="6705600"/>
            <a:ext cx="6096000" cy="152400"/>
          </a:xfrm>
          <a:prstGeom prst="rect">
            <a:avLst/>
          </a:prstGeom>
          <a:solidFill>
            <a:srgbClr val="E07B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E4B7B7F-8C9C-F63D-306E-3A9A3CFE6BF8}"/>
              </a:ext>
            </a:extLst>
          </p:cNvPr>
          <p:cNvSpPr txBox="1"/>
          <p:nvPr userDrawn="1"/>
        </p:nvSpPr>
        <p:spPr>
          <a:xfrm>
            <a:off x="304800" y="6350000"/>
            <a:ext cx="762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9A9A9A"/>
                </a:solidFill>
                <a:latin typeface="Segoe UI" panose="020B0502040204020203" pitchFamily="34" charset="0"/>
              </a:rPr>
              <a:t>Cuidar em Crise  ·  L1 Crise, demência e quem cuida</a:t>
            </a:r>
          </a:p>
        </p:txBody>
      </p:sp>
    </p:spTree>
    <p:extLst>
      <p:ext uri="{BB962C8B-B14F-4D97-AF65-F5344CB8AC3E}">
        <p14:creationId xmlns:p14="http://schemas.microsoft.com/office/powerpoint/2010/main" val="244966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6F8B9D31-2DD0-E211-2A62-56F5AFED9505}"/>
              </a:ext>
            </a:extLst>
          </p:cNvPr>
          <p:cNvSpPr txBox="1"/>
          <p:nvPr/>
        </p:nvSpPr>
        <p:spPr>
          <a:xfrm>
            <a:off x="762000" y="1905000"/>
            <a:ext cx="10668000" cy="92333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5400" b="1">
                <a:solidFill>
                  <a:srgbClr val="34495E"/>
                </a:solidFill>
                <a:latin typeface="Segoe UI" panose="020B0502040204020203" pitchFamily="34" charset="0"/>
              </a:rPr>
              <a:t>Cuidar em Crise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271197D-47BD-63D2-0D20-FFEE0C0C761E}"/>
              </a:ext>
            </a:extLst>
          </p:cNvPr>
          <p:cNvSpPr txBox="1"/>
          <p:nvPr/>
        </p:nvSpPr>
        <p:spPr>
          <a:xfrm>
            <a:off x="1270000" y="2984500"/>
            <a:ext cx="9652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200">
                <a:solidFill>
                  <a:srgbClr val="2B2B2B"/>
                </a:solidFill>
                <a:latin typeface="Segoe UI" panose="020B0502040204020203" pitchFamily="34" charset="0"/>
              </a:rPr>
              <a:t>Primeiros socorros psicológicos para cuidadores de pessoas com demência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A5093DA7-4CAF-628A-9DFC-702CDC288065}"/>
              </a:ext>
            </a:extLst>
          </p:cNvPr>
          <p:cNvSpPr/>
          <p:nvPr/>
        </p:nvSpPr>
        <p:spPr>
          <a:xfrm>
            <a:off x="3429000" y="4191000"/>
            <a:ext cx="5334000" cy="558800"/>
          </a:xfrm>
          <a:prstGeom prst="roundRect">
            <a:avLst/>
          </a:prstGeom>
          <a:solidFill>
            <a:srgbClr val="3449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>
                <a:solidFill>
                  <a:srgbClr val="FFFFFF"/>
                </a:solidFill>
                <a:latin typeface="Segoe UI" panose="020B0502040204020203" pitchFamily="34" charset="0"/>
              </a:rPr>
              <a:t>Lição 1 · Crise, demência e quem cuida</a:t>
            </a:r>
          </a:p>
        </p:txBody>
      </p:sp>
    </p:spTree>
    <p:extLst>
      <p:ext uri="{BB962C8B-B14F-4D97-AF65-F5344CB8AC3E}">
        <p14:creationId xmlns:p14="http://schemas.microsoft.com/office/powerpoint/2010/main" val="759129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EDC0C51E-0F13-10B2-A043-6DD08399AD1C}"/>
              </a:ext>
            </a:extLst>
          </p:cNvPr>
          <p:cNvSpPr/>
          <p:nvPr/>
        </p:nvSpPr>
        <p:spPr>
          <a:xfrm>
            <a:off x="762000" y="508000"/>
            <a:ext cx="10668000" cy="533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9A9A9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 i="1">
                <a:solidFill>
                  <a:srgbClr val="9A9A9A"/>
                </a:solidFill>
                <a:latin typeface="Segoe UI" panose="020B0502040204020203" pitchFamily="34" charset="0"/>
              </a:rPr>
              <a:t>[Ilustração: sala da D. Rosa — cadeira junto à janela, relógio, fotografias na parede; a Ana entra com duas chávenas]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0D26F38-F55B-A504-EB2E-3BC19271C7CA}"/>
              </a:ext>
            </a:extLst>
          </p:cNvPr>
          <p:cNvSpPr/>
          <p:nvPr/>
        </p:nvSpPr>
        <p:spPr>
          <a:xfrm>
            <a:off x="1524000" y="5080000"/>
            <a:ext cx="1778000" cy="457200"/>
          </a:xfrm>
          <a:prstGeom prst="roundRect">
            <a:avLst/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>
                <a:latin typeface="Segoe UI" panose="020B0502040204020203" pitchFamily="34" charset="0"/>
              </a:rPr>
              <a:t>D. Rosa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8E5D7085-B417-52EF-44E0-A521F6B6CAA5}"/>
              </a:ext>
            </a:extLst>
          </p:cNvPr>
          <p:cNvSpPr/>
          <p:nvPr/>
        </p:nvSpPr>
        <p:spPr>
          <a:xfrm>
            <a:off x="8890000" y="5080000"/>
            <a:ext cx="1778000" cy="457200"/>
          </a:xfrm>
          <a:prstGeom prst="roundRect">
            <a:avLst/>
          </a:prstGeom>
          <a:solidFill>
            <a:srgbClr val="E07B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>
                <a:latin typeface="Segoe UI" panose="020B0502040204020203" pitchFamily="34" charset="0"/>
              </a:rPr>
              <a:t>Ana</a:t>
            </a:r>
          </a:p>
        </p:txBody>
      </p:sp>
    </p:spTree>
    <p:extLst>
      <p:ext uri="{BB962C8B-B14F-4D97-AF65-F5344CB8AC3E}">
        <p14:creationId xmlns:p14="http://schemas.microsoft.com/office/powerpoint/2010/main" val="2759259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FAABCB2A-51BE-D3A5-DB3C-705F2AE8FF99}"/>
              </a:ext>
            </a:extLst>
          </p:cNvPr>
          <p:cNvSpPr/>
          <p:nvPr/>
        </p:nvSpPr>
        <p:spPr>
          <a:xfrm>
            <a:off x="762000" y="508000"/>
            <a:ext cx="6604000" cy="533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9A9A9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 i="1">
                <a:solidFill>
                  <a:srgbClr val="9A9A9A"/>
                </a:solidFill>
                <a:latin typeface="Segoe UI" panose="020B0502040204020203" pitchFamily="34" charset="0"/>
              </a:rPr>
              <a:t>[Ilustração: janela com fumo; telemóvel com alerta; luzes de emergência]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3BC1810-6A7B-E053-7090-1F19DEB24518}"/>
              </a:ext>
            </a:extLst>
          </p:cNvPr>
          <p:cNvSpPr txBox="1"/>
          <p:nvPr/>
        </p:nvSpPr>
        <p:spPr>
          <a:xfrm>
            <a:off x="7747000" y="1905000"/>
            <a:ext cx="3937000" cy="206210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34495E"/>
                </a:solidFill>
                <a:latin typeface="Segoe UI" panose="020B0502040204020203" pitchFamily="34" charset="0"/>
              </a:rPr>
              <a:t>Uma crise muda tudo de um momento para o outro.</a:t>
            </a:r>
          </a:p>
        </p:txBody>
      </p:sp>
    </p:spTree>
    <p:extLst>
      <p:ext uri="{BB962C8B-B14F-4D97-AF65-F5344CB8AC3E}">
        <p14:creationId xmlns:p14="http://schemas.microsoft.com/office/powerpoint/2010/main" val="240821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F219C920-49C3-75EC-6D93-03D4F368EA0A}"/>
              </a:ext>
            </a:extLst>
          </p:cNvPr>
          <p:cNvSpPr txBox="1"/>
          <p:nvPr/>
        </p:nvSpPr>
        <p:spPr>
          <a:xfrm>
            <a:off x="762000" y="1397000"/>
            <a:ext cx="10668000" cy="70788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4000" b="1">
                <a:solidFill>
                  <a:srgbClr val="34495E"/>
                </a:solidFill>
                <a:latin typeface="Segoe UI" panose="020B0502040204020203" pitchFamily="34" charset="0"/>
              </a:rPr>
              <a:t>L1 · Crise, demência e quem cuida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95B58E4-835E-6055-7C36-CF46E0BEB38E}"/>
              </a:ext>
            </a:extLst>
          </p:cNvPr>
          <p:cNvSpPr txBox="1"/>
          <p:nvPr/>
        </p:nvSpPr>
        <p:spPr>
          <a:xfrm>
            <a:off x="762000" y="2349500"/>
            <a:ext cx="10668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200">
                <a:solidFill>
                  <a:srgbClr val="2B2B2B"/>
                </a:solidFill>
                <a:latin typeface="Segoe UI" panose="020B0502040204020203" pitchFamily="34" charset="0"/>
              </a:rPr>
              <a:t>O incêndio é só um exemplo.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C4711C0-CB40-FD5E-C1A7-1465F907B81B}"/>
              </a:ext>
            </a:extLst>
          </p:cNvPr>
          <p:cNvSpPr/>
          <p:nvPr/>
        </p:nvSpPr>
        <p:spPr>
          <a:xfrm>
            <a:off x="1524000" y="3429000"/>
            <a:ext cx="1905000" cy="1905000"/>
          </a:xfrm>
          <a:prstGeom prst="ellipse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200">
                <a:solidFill>
                  <a:srgbClr val="9A9A9A"/>
                </a:solidFill>
                <a:latin typeface="Segoe UI" panose="020B0502040204020203" pitchFamily="34" charset="0"/>
              </a:rPr>
              <a:t>[ícone]</a:t>
            </a:r>
          </a:p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Incêndio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6BD1E07-9F59-E479-F27E-E3639973A99F}"/>
              </a:ext>
            </a:extLst>
          </p:cNvPr>
          <p:cNvSpPr/>
          <p:nvPr/>
        </p:nvSpPr>
        <p:spPr>
          <a:xfrm>
            <a:off x="3937000" y="3429000"/>
            <a:ext cx="1905000" cy="1905000"/>
          </a:xfrm>
          <a:prstGeom prst="ellipse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200">
                <a:solidFill>
                  <a:srgbClr val="9A9A9A"/>
                </a:solidFill>
                <a:latin typeface="Segoe UI" panose="020B0502040204020203" pitchFamily="34" charset="0"/>
              </a:rPr>
              <a:t>[ícone]</a:t>
            </a:r>
          </a:p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Cheia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B891B72-56AD-4B44-8412-915EA65F484D}"/>
              </a:ext>
            </a:extLst>
          </p:cNvPr>
          <p:cNvSpPr/>
          <p:nvPr/>
        </p:nvSpPr>
        <p:spPr>
          <a:xfrm>
            <a:off x="6350000" y="3429000"/>
            <a:ext cx="1905000" cy="1905000"/>
          </a:xfrm>
          <a:prstGeom prst="ellipse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200">
                <a:solidFill>
                  <a:srgbClr val="9A9A9A"/>
                </a:solidFill>
                <a:latin typeface="Segoe UI" panose="020B0502040204020203" pitchFamily="34" charset="0"/>
              </a:rPr>
              <a:t>[ícone]</a:t>
            </a:r>
          </a:p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Pandemia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4913308-60C0-F1FB-0D98-AE3365008183}"/>
              </a:ext>
            </a:extLst>
          </p:cNvPr>
          <p:cNvSpPr/>
          <p:nvPr/>
        </p:nvSpPr>
        <p:spPr>
          <a:xfrm>
            <a:off x="8763000" y="3429000"/>
            <a:ext cx="1905000" cy="1905000"/>
          </a:xfrm>
          <a:prstGeom prst="ellipse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200">
                <a:solidFill>
                  <a:srgbClr val="9A9A9A"/>
                </a:solidFill>
                <a:latin typeface="Segoe UI" panose="020B0502040204020203" pitchFamily="34" charset="0"/>
              </a:rPr>
              <a:t>[ícone]</a:t>
            </a:r>
          </a:p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Deslocação</a:t>
            </a:r>
          </a:p>
        </p:txBody>
      </p:sp>
    </p:spTree>
    <p:extLst>
      <p:ext uri="{BB962C8B-B14F-4D97-AF65-F5344CB8AC3E}">
        <p14:creationId xmlns:p14="http://schemas.microsoft.com/office/powerpoint/2010/main" val="4255764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50A3F84A-2AF2-2995-8001-93C0B7966A23}"/>
              </a:ext>
            </a:extLst>
          </p:cNvPr>
          <p:cNvSpPr/>
          <p:nvPr/>
        </p:nvSpPr>
        <p:spPr>
          <a:xfrm>
            <a:off x="0" y="0"/>
            <a:ext cx="6096000" cy="6705600"/>
          </a:xfrm>
          <a:prstGeom prst="rect">
            <a:avLst/>
          </a:prstGeom>
          <a:solidFill>
            <a:srgbClr val="DCE8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2A1FAC3-A261-38B3-A9F1-2493FF59969A}"/>
              </a:ext>
            </a:extLst>
          </p:cNvPr>
          <p:cNvSpPr txBox="1"/>
          <p:nvPr/>
        </p:nvSpPr>
        <p:spPr>
          <a:xfrm>
            <a:off x="381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2F6DB5"/>
                </a:solidFill>
                <a:latin typeface="Segoe UI" panose="020B0502040204020203" pitchFamily="34" charset="0"/>
              </a:rPr>
              <a:t>A pessoa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8DD451B6-DCDC-B9F7-E33B-7F87B22F4A85}"/>
              </a:ext>
            </a:extLst>
          </p:cNvPr>
          <p:cNvSpPr/>
          <p:nvPr/>
        </p:nvSpPr>
        <p:spPr>
          <a:xfrm>
            <a:off x="508000" y="1270000"/>
            <a:ext cx="5080000" cy="330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9A9A9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 i="1">
                <a:solidFill>
                  <a:srgbClr val="9A9A9A"/>
                </a:solidFill>
                <a:latin typeface="Segoe UI" panose="020B0502040204020203" pitchFamily="34" charset="0"/>
              </a:rPr>
              <a:t>[Ilustração: D. Rosa confusa, a olhar à volta]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A0B52B9-561A-2B9C-FDD7-26776DB0442B}"/>
              </a:ext>
            </a:extLst>
          </p:cNvPr>
          <p:cNvSpPr txBox="1"/>
          <p:nvPr/>
        </p:nvSpPr>
        <p:spPr>
          <a:xfrm>
            <a:off x="381000" y="4953000"/>
            <a:ext cx="5334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000" b="1">
                <a:solidFill>
                  <a:srgbClr val="2F6DB5"/>
                </a:solidFill>
                <a:latin typeface="Segoe UI" panose="020B0502040204020203" pitchFamily="34" charset="0"/>
              </a:rPr>
              <a:t>Desorientação  ·  Agitação  ·  Recusa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DE239001-6B92-B2A4-F71C-B0962A65CAF7}"/>
              </a:ext>
            </a:extLst>
          </p:cNvPr>
          <p:cNvSpPr/>
          <p:nvPr/>
        </p:nvSpPr>
        <p:spPr>
          <a:xfrm>
            <a:off x="6096000" y="0"/>
            <a:ext cx="6096000" cy="6705600"/>
          </a:xfrm>
          <a:prstGeom prst="rect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1D9600F-2FD1-180C-A67E-753DD998E074}"/>
              </a:ext>
            </a:extLst>
          </p:cNvPr>
          <p:cNvSpPr txBox="1"/>
          <p:nvPr/>
        </p:nvSpPr>
        <p:spPr>
          <a:xfrm>
            <a:off x="6477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9A9A9A"/>
                </a:solidFill>
                <a:latin typeface="Segoe UI" panose="020B0502040204020203" pitchFamily="34" charset="0"/>
              </a:rPr>
              <a:t>Quem cuida</a:t>
            </a:r>
          </a:p>
        </p:txBody>
      </p:sp>
    </p:spTree>
    <p:extLst>
      <p:ext uri="{BB962C8B-B14F-4D97-AF65-F5344CB8AC3E}">
        <p14:creationId xmlns:p14="http://schemas.microsoft.com/office/powerpoint/2010/main" val="2101074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1ABE7E0A-A683-231A-6C7F-F095713B1EFD}"/>
              </a:ext>
            </a:extLst>
          </p:cNvPr>
          <p:cNvSpPr txBox="1"/>
          <p:nvPr/>
        </p:nvSpPr>
        <p:spPr>
          <a:xfrm>
            <a:off x="762000" y="508000"/>
            <a:ext cx="10668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200" b="1">
                <a:solidFill>
                  <a:srgbClr val="2F6DB5"/>
                </a:solidFill>
                <a:latin typeface="Segoe UI" panose="020B0502040204020203" pitchFamily="34" charset="0"/>
              </a:rPr>
              <a:t>A casa pelos olhos da D. Rosa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4CA9096-CA11-A558-7DF1-EAD5FCA6396F}"/>
              </a:ext>
            </a:extLst>
          </p:cNvPr>
          <p:cNvSpPr/>
          <p:nvPr/>
        </p:nvSpPr>
        <p:spPr>
          <a:xfrm>
            <a:off x="1397000" y="1397000"/>
            <a:ext cx="939800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6DB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000">
                <a:solidFill>
                  <a:srgbClr val="2F6DB5"/>
                </a:solidFill>
                <a:latin typeface="Segoe UI" panose="020B0502040204020203" pitchFamily="34" charset="0"/>
              </a:rPr>
              <a:t>[Visita 3D gravada · Matterport · 30–60 s]</a:t>
            </a:r>
          </a:p>
          <a:p>
            <a:pPr algn="ctr"/>
            <a:r>
              <a:rPr lang="pt-PT" sz="1600">
                <a:solidFill>
                  <a:srgbClr val="2F6DB5"/>
                </a:solidFill>
                <a:latin typeface="Segoe UI" panose="020B0502040204020203" pitchFamily="34" charset="0"/>
              </a:rPr>
              <a:t>Cadeira · Fotografias · Relógio · Cozinha</a:t>
            </a:r>
          </a:p>
        </p:txBody>
      </p:sp>
    </p:spTree>
    <p:extLst>
      <p:ext uri="{BB962C8B-B14F-4D97-AF65-F5344CB8AC3E}">
        <p14:creationId xmlns:p14="http://schemas.microsoft.com/office/powerpoint/2010/main" val="4092184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814F9424-4A2B-1151-BCCB-A2DEA202FD16}"/>
              </a:ext>
            </a:extLst>
          </p:cNvPr>
          <p:cNvSpPr/>
          <p:nvPr/>
        </p:nvSpPr>
        <p:spPr>
          <a:xfrm>
            <a:off x="0" y="0"/>
            <a:ext cx="6096000" cy="6705600"/>
          </a:xfrm>
          <a:prstGeom prst="rect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EBBB064-7CC8-CD5E-30E0-5E6423306080}"/>
              </a:ext>
            </a:extLst>
          </p:cNvPr>
          <p:cNvSpPr txBox="1"/>
          <p:nvPr/>
        </p:nvSpPr>
        <p:spPr>
          <a:xfrm>
            <a:off x="381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9A9A9A"/>
                </a:solidFill>
                <a:latin typeface="Segoe UI" panose="020B0502040204020203" pitchFamily="34" charset="0"/>
              </a:rPr>
              <a:t>A pessoa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99E4AD7-BE6E-0782-3E83-F8C8CFB4B53C}"/>
              </a:ext>
            </a:extLst>
          </p:cNvPr>
          <p:cNvSpPr/>
          <p:nvPr/>
        </p:nvSpPr>
        <p:spPr>
          <a:xfrm>
            <a:off x="6096000" y="0"/>
            <a:ext cx="6096000" cy="6705600"/>
          </a:xfrm>
          <a:prstGeom prst="rect">
            <a:avLst/>
          </a:prstGeom>
          <a:solidFill>
            <a:srgbClr val="FBE6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120FC8B-349A-1FF3-BDAB-A8227B60187F}"/>
              </a:ext>
            </a:extLst>
          </p:cNvPr>
          <p:cNvSpPr txBox="1"/>
          <p:nvPr/>
        </p:nvSpPr>
        <p:spPr>
          <a:xfrm>
            <a:off x="6477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E07B2E"/>
                </a:solidFill>
                <a:latin typeface="Segoe UI" panose="020B0502040204020203" pitchFamily="34" charset="0"/>
              </a:rPr>
              <a:t>Quem cuida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C468F356-58A9-9431-6ABD-78DE09C3545C}"/>
              </a:ext>
            </a:extLst>
          </p:cNvPr>
          <p:cNvSpPr/>
          <p:nvPr/>
        </p:nvSpPr>
        <p:spPr>
          <a:xfrm>
            <a:off x="6604000" y="1270000"/>
            <a:ext cx="5080000" cy="330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9A9A9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 i="1">
                <a:solidFill>
                  <a:srgbClr val="9A9A9A"/>
                </a:solidFill>
                <a:latin typeface="Segoe UI" panose="020B0502040204020203" pitchFamily="34" charset="0"/>
              </a:rPr>
              <a:t>[Ilustração: Ana cansada, mão na testa]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A252819-C208-196D-5550-9A964E10149B}"/>
              </a:ext>
            </a:extLst>
          </p:cNvPr>
          <p:cNvSpPr txBox="1"/>
          <p:nvPr/>
        </p:nvSpPr>
        <p:spPr>
          <a:xfrm>
            <a:off x="6477000" y="4953000"/>
            <a:ext cx="5334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000" b="1">
                <a:solidFill>
                  <a:srgbClr val="E07B2E"/>
                </a:solidFill>
                <a:latin typeface="Segoe UI" panose="020B0502040204020203" pitchFamily="34" charset="0"/>
              </a:rPr>
              <a:t>Ansiedade  ·  Cansaço  ·  Irritação</a:t>
            </a:r>
          </a:p>
        </p:txBody>
      </p:sp>
    </p:spTree>
    <p:extLst>
      <p:ext uri="{BB962C8B-B14F-4D97-AF65-F5344CB8AC3E}">
        <p14:creationId xmlns:p14="http://schemas.microsoft.com/office/powerpoint/2010/main" val="3503462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6A8F2FBF-9415-97CC-CC8D-044E7F794771}"/>
              </a:ext>
            </a:extLst>
          </p:cNvPr>
          <p:cNvSpPr txBox="1"/>
          <p:nvPr/>
        </p:nvSpPr>
        <p:spPr>
          <a:xfrm>
            <a:off x="762000" y="381000"/>
            <a:ext cx="10668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400" b="1">
                <a:solidFill>
                  <a:srgbClr val="34495E"/>
                </a:solidFill>
                <a:latin typeface="Segoe UI" panose="020B0502040204020203" pitchFamily="34" charset="0"/>
              </a:rPr>
              <a:t>Primeiros socorros psicológicos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D77EC79-E9A8-43B1-8791-0B209E4E1277}"/>
              </a:ext>
            </a:extLst>
          </p:cNvPr>
          <p:cNvSpPr txBox="1"/>
          <p:nvPr/>
        </p:nvSpPr>
        <p:spPr>
          <a:xfrm>
            <a:off x="762000" y="10160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Três passos, para a pessoa e para si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3272F114-6450-DCFB-6158-AE1611627BC4}"/>
              </a:ext>
            </a:extLst>
          </p:cNvPr>
          <p:cNvGrpSpPr/>
          <p:nvPr/>
        </p:nvGrpSpPr>
        <p:grpSpPr>
          <a:xfrm>
            <a:off x="889000" y="1778000"/>
            <a:ext cx="3048000" cy="3810000"/>
            <a:chOff x="889000" y="1778000"/>
            <a:chExt cx="3048000" cy="3810000"/>
          </a:xfrm>
        </p:grpSpPr>
        <p:sp>
          <p:nvSpPr>
            <p:cNvPr id="4" name="Retângulo: Cantos Arredondados 3">
              <a:extLst>
                <a:ext uri="{FF2B5EF4-FFF2-40B4-BE49-F238E27FC236}">
                  <a16:creationId xmlns:a16="http://schemas.microsoft.com/office/drawing/2014/main" id="{79F594CE-9C0A-DE9F-5746-07EBEEE9FBD8}"/>
                </a:ext>
              </a:extLst>
            </p:cNvPr>
            <p:cNvSpPr/>
            <p:nvPr/>
          </p:nvSpPr>
          <p:spPr>
            <a:xfrm>
              <a:off x="889000" y="1778000"/>
              <a:ext cx="3048000" cy="3810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3449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A2644AE-1842-5E99-657A-948A4C7D7676}"/>
                </a:ext>
              </a:extLst>
            </p:cNvPr>
            <p:cNvSpPr/>
            <p:nvPr/>
          </p:nvSpPr>
          <p:spPr>
            <a:xfrm>
              <a:off x="2032000" y="2032000"/>
              <a:ext cx="762000" cy="762000"/>
            </a:xfrm>
            <a:prstGeom prst="ellipse">
              <a:avLst/>
            </a:prstGeom>
            <a:solidFill>
              <a:srgbClr val="34495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PT" sz="2600" b="1">
                  <a:latin typeface="Segoe UI" panose="020B0502040204020203" pitchFamily="34" charset="0"/>
                </a:rPr>
                <a:t>1</a:t>
              </a:r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4458D0C7-CB36-A1C8-A7BB-15CC49219E1E}"/>
                </a:ext>
              </a:extLst>
            </p:cNvPr>
            <p:cNvSpPr txBox="1"/>
            <p:nvPr/>
          </p:nvSpPr>
          <p:spPr>
            <a:xfrm>
              <a:off x="889000" y="2984500"/>
              <a:ext cx="3048000" cy="49244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2600" b="1">
                  <a:solidFill>
                    <a:srgbClr val="34495E"/>
                  </a:solidFill>
                  <a:latin typeface="Segoe UI" panose="020B0502040204020203" pitchFamily="34" charset="0"/>
                </a:rPr>
                <a:t>Observar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89E63402-3126-2288-F614-A3F89CF6B0CA}"/>
                </a:ext>
              </a:extLst>
            </p:cNvPr>
            <p:cNvSpPr txBox="1"/>
            <p:nvPr/>
          </p:nvSpPr>
          <p:spPr>
            <a:xfrm>
              <a:off x="1079500" y="3619500"/>
              <a:ext cx="2667000" cy="87716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1700">
                  <a:solidFill>
                    <a:srgbClr val="2B2B2B"/>
                  </a:solidFill>
                  <a:latin typeface="Segoe UI" panose="020B0502040204020203" pitchFamily="34" charset="0"/>
                </a:rPr>
                <a:t>Há perigo? De que precisa a pessoa? E como estou eu?</a:t>
              </a:r>
            </a:p>
          </p:txBody>
        </p:sp>
      </p:grpSp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68D62871-2538-39D0-4877-D16260B4CDA4}"/>
              </a:ext>
            </a:extLst>
          </p:cNvPr>
          <p:cNvSpPr/>
          <p:nvPr/>
        </p:nvSpPr>
        <p:spPr>
          <a:xfrm>
            <a:off x="3975100" y="3429000"/>
            <a:ext cx="558800" cy="457200"/>
          </a:xfrm>
          <a:prstGeom prst="rightArrow">
            <a:avLst/>
          </a:prstGeom>
          <a:solidFill>
            <a:srgbClr val="9A9A9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3D0903DA-4E65-7A35-17C2-F0DE051B1BC1}"/>
              </a:ext>
            </a:extLst>
          </p:cNvPr>
          <p:cNvGrpSpPr/>
          <p:nvPr/>
        </p:nvGrpSpPr>
        <p:grpSpPr>
          <a:xfrm>
            <a:off x="4572000" y="1778000"/>
            <a:ext cx="3048000" cy="3810000"/>
            <a:chOff x="4572000" y="1778000"/>
            <a:chExt cx="3048000" cy="3810000"/>
          </a:xfrm>
        </p:grpSpPr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AD6E5918-D3C3-09CF-C396-44808C954CDC}"/>
                </a:ext>
              </a:extLst>
            </p:cNvPr>
            <p:cNvSpPr/>
            <p:nvPr/>
          </p:nvSpPr>
          <p:spPr>
            <a:xfrm>
              <a:off x="4572000" y="1778000"/>
              <a:ext cx="3048000" cy="3810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3449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ACC3136-5730-EEF6-E882-037698D60D68}"/>
                </a:ext>
              </a:extLst>
            </p:cNvPr>
            <p:cNvSpPr/>
            <p:nvPr/>
          </p:nvSpPr>
          <p:spPr>
            <a:xfrm>
              <a:off x="5715000" y="2032000"/>
              <a:ext cx="762000" cy="762000"/>
            </a:xfrm>
            <a:prstGeom prst="ellipse">
              <a:avLst/>
            </a:prstGeom>
            <a:solidFill>
              <a:srgbClr val="34495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PT" sz="2600" b="1">
                  <a:latin typeface="Segoe UI" panose="020B0502040204020203" pitchFamily="34" charset="0"/>
                </a:rPr>
                <a:t>2</a:t>
              </a:r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BA796783-1248-B5CA-80FB-159202F7DB12}"/>
                </a:ext>
              </a:extLst>
            </p:cNvPr>
            <p:cNvSpPr txBox="1"/>
            <p:nvPr/>
          </p:nvSpPr>
          <p:spPr>
            <a:xfrm>
              <a:off x="4572000" y="2984500"/>
              <a:ext cx="3048000" cy="49244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2600" b="1">
                  <a:solidFill>
                    <a:srgbClr val="34495E"/>
                  </a:solidFill>
                  <a:latin typeface="Segoe UI" panose="020B0502040204020203" pitchFamily="34" charset="0"/>
                </a:rPr>
                <a:t>Escutar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4BDC7607-01B1-14EE-568A-773E8F509083}"/>
                </a:ext>
              </a:extLst>
            </p:cNvPr>
            <p:cNvSpPr txBox="1"/>
            <p:nvPr/>
          </p:nvSpPr>
          <p:spPr>
            <a:xfrm>
              <a:off x="4762500" y="3619500"/>
              <a:ext cx="2667000" cy="61555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1700">
                  <a:solidFill>
                    <a:srgbClr val="2B2B2B"/>
                  </a:solidFill>
                  <a:latin typeface="Segoe UI" panose="020B0502040204020203" pitchFamily="34" charset="0"/>
                </a:rPr>
                <a:t>Aproximar-se com calma, ouvir sem pressa, acalmar.</a:t>
              </a:r>
            </a:p>
          </p:txBody>
        </p:sp>
      </p:grpSp>
      <p:sp>
        <p:nvSpPr>
          <p:cNvPr id="15" name="Seta: Para a Direita 14">
            <a:extLst>
              <a:ext uri="{FF2B5EF4-FFF2-40B4-BE49-F238E27FC236}">
                <a16:creationId xmlns:a16="http://schemas.microsoft.com/office/drawing/2014/main" id="{520285A9-558D-CD64-23FA-843A1728BB24}"/>
              </a:ext>
            </a:extLst>
          </p:cNvPr>
          <p:cNvSpPr/>
          <p:nvPr/>
        </p:nvSpPr>
        <p:spPr>
          <a:xfrm>
            <a:off x="7658100" y="3429000"/>
            <a:ext cx="558800" cy="457200"/>
          </a:xfrm>
          <a:prstGeom prst="rightArrow">
            <a:avLst/>
          </a:prstGeom>
          <a:solidFill>
            <a:srgbClr val="9A9A9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2D4CBB61-7592-1B54-8A10-7D40557660EE}"/>
              </a:ext>
            </a:extLst>
          </p:cNvPr>
          <p:cNvGrpSpPr/>
          <p:nvPr/>
        </p:nvGrpSpPr>
        <p:grpSpPr>
          <a:xfrm>
            <a:off x="8255000" y="1778000"/>
            <a:ext cx="3048000" cy="3810000"/>
            <a:chOff x="8255000" y="1778000"/>
            <a:chExt cx="3048000" cy="3810000"/>
          </a:xfrm>
        </p:grpSpPr>
        <p:sp>
          <p:nvSpPr>
            <p:cNvPr id="16" name="Retângulo: Cantos Arredondados 15">
              <a:extLst>
                <a:ext uri="{FF2B5EF4-FFF2-40B4-BE49-F238E27FC236}">
                  <a16:creationId xmlns:a16="http://schemas.microsoft.com/office/drawing/2014/main" id="{FF401F37-0C54-5BEB-D1F2-4DE78BE30E34}"/>
                </a:ext>
              </a:extLst>
            </p:cNvPr>
            <p:cNvSpPr/>
            <p:nvPr/>
          </p:nvSpPr>
          <p:spPr>
            <a:xfrm>
              <a:off x="8255000" y="1778000"/>
              <a:ext cx="3048000" cy="3810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3449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F6BC12E-1EA7-7A51-48BC-82CA0BC0746F}"/>
                </a:ext>
              </a:extLst>
            </p:cNvPr>
            <p:cNvSpPr/>
            <p:nvPr/>
          </p:nvSpPr>
          <p:spPr>
            <a:xfrm>
              <a:off x="9398000" y="2032000"/>
              <a:ext cx="762000" cy="762000"/>
            </a:xfrm>
            <a:prstGeom prst="ellipse">
              <a:avLst/>
            </a:prstGeom>
            <a:solidFill>
              <a:srgbClr val="34495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PT" sz="2600" b="1">
                  <a:latin typeface="Segoe UI" panose="020B0502040204020203" pitchFamily="34" charset="0"/>
                </a:rPr>
                <a:t>3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0AFEE844-A92E-3EB2-D6C4-B074B6F430C7}"/>
                </a:ext>
              </a:extLst>
            </p:cNvPr>
            <p:cNvSpPr txBox="1"/>
            <p:nvPr/>
          </p:nvSpPr>
          <p:spPr>
            <a:xfrm>
              <a:off x="8255000" y="2984500"/>
              <a:ext cx="3048000" cy="49244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2600" b="1">
                  <a:solidFill>
                    <a:srgbClr val="34495E"/>
                  </a:solidFill>
                  <a:latin typeface="Segoe UI" panose="020B0502040204020203" pitchFamily="34" charset="0"/>
                </a:rPr>
                <a:t>Encaminhar</a:t>
              </a:r>
            </a:p>
          </p:txBody>
        </p:sp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2982A105-B3B5-1123-6B12-13636297600D}"/>
                </a:ext>
              </a:extLst>
            </p:cNvPr>
            <p:cNvSpPr txBox="1"/>
            <p:nvPr/>
          </p:nvSpPr>
          <p:spPr>
            <a:xfrm>
              <a:off x="8445500" y="3619500"/>
              <a:ext cx="2667000" cy="87716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1700">
                  <a:solidFill>
                    <a:srgbClr val="2B2B2B"/>
                  </a:solidFill>
                  <a:latin typeface="Segoe UI" panose="020B0502040204020203" pitchFamily="34" charset="0"/>
                </a:rPr>
                <a:t>Responder às necessidades básicas e saber a quem pedir ajuda.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1444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ACDAD4FB-FA2E-5FFB-DC60-3DD3ADEDFA95}"/>
              </a:ext>
            </a:extLst>
          </p:cNvPr>
          <p:cNvSpPr txBox="1"/>
          <p:nvPr/>
        </p:nvSpPr>
        <p:spPr>
          <a:xfrm>
            <a:off x="762000" y="635000"/>
            <a:ext cx="10668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400" b="1">
                <a:solidFill>
                  <a:srgbClr val="34495E"/>
                </a:solidFill>
                <a:latin typeface="Segoe UI" panose="020B0502040204020203" pitchFamily="34" charset="0"/>
              </a:rPr>
              <a:t>Em resumo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C8D6ED10-ADDF-8735-0496-06EC4691F0E8}"/>
              </a:ext>
            </a:extLst>
          </p:cNvPr>
          <p:cNvSpPr/>
          <p:nvPr/>
        </p:nvSpPr>
        <p:spPr>
          <a:xfrm>
            <a:off x="1778000" y="1778000"/>
            <a:ext cx="8636000" cy="889000"/>
          </a:xfrm>
          <a:prstGeom prst="roundRect">
            <a:avLst/>
          </a:prstGeom>
          <a:solidFill>
            <a:srgbClr val="DCE8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200" b="1">
                <a:solidFill>
                  <a:srgbClr val="2F6DB5"/>
                </a:solidFill>
                <a:latin typeface="Segoe UI" panose="020B0502040204020203" pitchFamily="34" charset="0"/>
              </a:rPr>
              <a:t>A pessoa com demência perde as suas referências.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44953B14-4286-308B-8903-AD3068FAB1A3}"/>
              </a:ext>
            </a:extLst>
          </p:cNvPr>
          <p:cNvSpPr/>
          <p:nvPr/>
        </p:nvSpPr>
        <p:spPr>
          <a:xfrm>
            <a:off x="1778000" y="2921000"/>
            <a:ext cx="8636000" cy="889000"/>
          </a:xfrm>
          <a:prstGeom prst="roundRect">
            <a:avLst/>
          </a:prstGeom>
          <a:solidFill>
            <a:srgbClr val="FBE6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200" b="1">
                <a:solidFill>
                  <a:srgbClr val="E07B2E"/>
                </a:solidFill>
                <a:latin typeface="Segoe UI" panose="020B0502040204020203" pitchFamily="34" charset="0"/>
              </a:rPr>
              <a:t>Quem cuida fica sob pressão.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597B8AD-9136-3D7C-A3DA-A57FCA8AB68B}"/>
              </a:ext>
            </a:extLst>
          </p:cNvPr>
          <p:cNvSpPr txBox="1"/>
          <p:nvPr/>
        </p:nvSpPr>
        <p:spPr>
          <a:xfrm>
            <a:off x="762000" y="4318000"/>
            <a:ext cx="10668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400">
                <a:solidFill>
                  <a:srgbClr val="34495E"/>
                </a:solidFill>
                <a:latin typeface="Segoe UI" panose="020B0502040204020203" pitchFamily="34" charset="0"/>
              </a:rPr>
              <a:t>Observar  →  Escutar  →  Encaminhar  ajuda os dois.</a:t>
            </a:r>
          </a:p>
        </p:txBody>
      </p:sp>
    </p:spTree>
    <p:extLst>
      <p:ext uri="{BB962C8B-B14F-4D97-AF65-F5344CB8AC3E}">
        <p14:creationId xmlns:p14="http://schemas.microsoft.com/office/powerpoint/2010/main" val="21184494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510905A-19EA-ED8C-4261-10EC8A0A4721}"/>
              </a:ext>
            </a:extLst>
          </p:cNvPr>
          <p:cNvSpPr txBox="1"/>
          <p:nvPr/>
        </p:nvSpPr>
        <p:spPr>
          <a:xfrm>
            <a:off x="762000" y="508000"/>
            <a:ext cx="10668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400" b="1">
                <a:solidFill>
                  <a:srgbClr val="34495E"/>
                </a:solidFill>
                <a:latin typeface="Segoe UI" panose="020B0502040204020203" pitchFamily="34" charset="0"/>
              </a:rPr>
              <a:t>O caminho do curso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2669C79E-0923-4F8E-086C-A64CBCDFD81F}"/>
              </a:ext>
            </a:extLst>
          </p:cNvPr>
          <p:cNvSpPr/>
          <p:nvPr/>
        </p:nvSpPr>
        <p:spPr>
          <a:xfrm>
            <a:off x="508000" y="2032000"/>
            <a:ext cx="2032000" cy="2540000"/>
          </a:xfrm>
          <a:prstGeom prst="roundRect">
            <a:avLst/>
          </a:prstGeom>
          <a:solidFill>
            <a:srgbClr val="ECEAE6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9A9A9A"/>
                </a:solidFill>
                <a:latin typeface="Segoe UI" panose="020B0502040204020203" pitchFamily="34" charset="0"/>
              </a:rPr>
              <a:t>L1</a:t>
            </a:r>
          </a:p>
          <a:p>
            <a:pPr algn="ctr"/>
            <a:r>
              <a:rPr lang="pt-PT" sz="1500">
                <a:solidFill>
                  <a:srgbClr val="9A9A9A"/>
                </a:solidFill>
                <a:latin typeface="Segoe UI" panose="020B0502040204020203" pitchFamily="34" charset="0"/>
              </a:rPr>
              <a:t>Crise, demência e quem cuida</a:t>
            </a:r>
          </a:p>
          <a:p>
            <a:pPr algn="ctr"/>
            <a:r>
              <a:rPr lang="pt-PT" sz="1300" i="1">
                <a:solidFill>
                  <a:srgbClr val="9A9A9A"/>
                </a:solidFill>
                <a:latin typeface="Segoe UI" panose="020B0502040204020203" pitchFamily="34" charset="0"/>
              </a:rPr>
              <a:t>Compreender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1E7E5E06-6B76-0616-753C-F8867534C54A}"/>
              </a:ext>
            </a:extLst>
          </p:cNvPr>
          <p:cNvSpPr/>
          <p:nvPr/>
        </p:nvSpPr>
        <p:spPr>
          <a:xfrm>
            <a:off x="2794000" y="2032000"/>
            <a:ext cx="2032000" cy="2540000"/>
          </a:xfrm>
          <a:prstGeom prst="roundRect">
            <a:avLst/>
          </a:prstGeom>
          <a:solidFill>
            <a:srgbClr val="34495E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L2</a:t>
            </a:r>
          </a:p>
          <a:p>
            <a:pPr algn="ctr"/>
            <a:r>
              <a:rPr lang="pt-PT" sz="1500">
                <a:solidFill>
                  <a:srgbClr val="FFFFFF"/>
                </a:solidFill>
                <a:latin typeface="Segoe UI" panose="020B0502040204020203" pitchFamily="34" charset="0"/>
              </a:rPr>
              <a:t>Preparar antes</a:t>
            </a:r>
          </a:p>
          <a:p>
            <a:pPr algn="ctr"/>
            <a:r>
              <a:rPr lang="pt-PT" sz="1300" i="1">
                <a:solidFill>
                  <a:srgbClr val="FFFFFF"/>
                </a:solidFill>
                <a:latin typeface="Segoe UI" panose="020B0502040204020203" pitchFamily="34" charset="0"/>
              </a:rPr>
              <a:t>Antes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21C7A64D-C257-902A-48AA-DBBC4F4AE1A3}"/>
              </a:ext>
            </a:extLst>
          </p:cNvPr>
          <p:cNvSpPr/>
          <p:nvPr/>
        </p:nvSpPr>
        <p:spPr>
          <a:xfrm>
            <a:off x="5080000" y="2032000"/>
            <a:ext cx="2032000" cy="25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34495E"/>
                </a:solidFill>
                <a:latin typeface="Segoe UI" panose="020B0502040204020203" pitchFamily="34" charset="0"/>
              </a:rPr>
              <a:t>L3</a:t>
            </a:r>
          </a:p>
          <a:p>
            <a:pPr algn="ctr"/>
            <a:r>
              <a:rPr lang="pt-PT" sz="1500">
                <a:solidFill>
                  <a:srgbClr val="34495E"/>
                </a:solidFill>
                <a:latin typeface="Segoe UI" panose="020B0502040204020203" pitchFamily="34" charset="0"/>
              </a:rPr>
              <a:t>Primeiro contacto: acalmar</a:t>
            </a:r>
          </a:p>
          <a:p>
            <a:pPr algn="ctr"/>
            <a:r>
              <a:rPr lang="pt-PT" sz="1300" i="1">
                <a:solidFill>
                  <a:srgbClr val="34495E"/>
                </a:solidFill>
                <a:latin typeface="Segoe UI" panose="020B0502040204020203" pitchFamily="34" charset="0"/>
              </a:rPr>
              <a:t>Durante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35DF8D4B-CD1C-0159-084F-7D9B9E432670}"/>
              </a:ext>
            </a:extLst>
          </p:cNvPr>
          <p:cNvSpPr/>
          <p:nvPr/>
        </p:nvSpPr>
        <p:spPr>
          <a:xfrm>
            <a:off x="7366000" y="2032000"/>
            <a:ext cx="2032000" cy="25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34495E"/>
                </a:solidFill>
                <a:latin typeface="Segoe UI" panose="020B0502040204020203" pitchFamily="34" charset="0"/>
              </a:rPr>
              <a:t>L4</a:t>
            </a:r>
          </a:p>
          <a:p>
            <a:pPr algn="ctr"/>
            <a:r>
              <a:rPr lang="pt-PT" sz="1500">
                <a:solidFill>
                  <a:srgbClr val="34495E"/>
                </a:solidFill>
                <a:latin typeface="Segoe UI" panose="020B0502040204020203" pitchFamily="34" charset="0"/>
              </a:rPr>
              <a:t>Necessidades e encaminhamento</a:t>
            </a:r>
          </a:p>
          <a:p>
            <a:pPr algn="ctr"/>
            <a:r>
              <a:rPr lang="pt-PT" sz="1300" i="1">
                <a:solidFill>
                  <a:srgbClr val="34495E"/>
                </a:solidFill>
                <a:latin typeface="Segoe UI" panose="020B0502040204020203" pitchFamily="34" charset="0"/>
              </a:rPr>
              <a:t>Durante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A16B729F-D88B-9AAC-5561-95CF903CDCF9}"/>
              </a:ext>
            </a:extLst>
          </p:cNvPr>
          <p:cNvSpPr/>
          <p:nvPr/>
        </p:nvSpPr>
        <p:spPr>
          <a:xfrm>
            <a:off x="9652000" y="2032000"/>
            <a:ext cx="2032000" cy="25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34495E"/>
                </a:solidFill>
                <a:latin typeface="Segoe UI" panose="020B0502040204020203" pitchFamily="34" charset="0"/>
              </a:rPr>
              <a:t>L5</a:t>
            </a:r>
          </a:p>
          <a:p>
            <a:pPr algn="ctr"/>
            <a:r>
              <a:rPr lang="pt-PT" sz="1500">
                <a:solidFill>
                  <a:srgbClr val="34495E"/>
                </a:solidFill>
                <a:latin typeface="Segoe UI" panose="020B0502040204020203" pitchFamily="34" charset="0"/>
              </a:rPr>
              <a:t>Depois da crise</a:t>
            </a:r>
          </a:p>
          <a:p>
            <a:pPr algn="ctr"/>
            <a:r>
              <a:rPr lang="pt-PT" sz="1300" i="1">
                <a:solidFill>
                  <a:srgbClr val="34495E"/>
                </a:solidFill>
                <a:latin typeface="Segoe UI" panose="020B0502040204020203" pitchFamily="34" charset="0"/>
              </a:rPr>
              <a:t>Depois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7E24FFB-CD67-7F65-8787-41749308A764}"/>
              </a:ext>
            </a:extLst>
          </p:cNvPr>
          <p:cNvSpPr txBox="1"/>
          <p:nvPr/>
        </p:nvSpPr>
        <p:spPr>
          <a:xfrm>
            <a:off x="762000" y="5080000"/>
            <a:ext cx="10668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400" b="1">
                <a:solidFill>
                  <a:srgbClr val="34495E"/>
                </a:solidFill>
                <a:latin typeface="Segoe UI" panose="020B0502040204020203" pitchFamily="34" charset="0"/>
              </a:rPr>
              <a:t>A seguir: L2 · Preparar antes</a:t>
            </a:r>
          </a:p>
        </p:txBody>
      </p:sp>
    </p:spTree>
    <p:extLst>
      <p:ext uri="{BB962C8B-B14F-4D97-AF65-F5344CB8AC3E}">
        <p14:creationId xmlns:p14="http://schemas.microsoft.com/office/powerpoint/2010/main" val="283634086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863</Words>
  <Application>Microsoft Office PowerPoint</Application>
  <PresentationFormat>Personalizados</PresentationFormat>
  <Paragraphs>81</Paragraphs>
  <Slides>10</Slides>
  <Notes>10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Segoe UI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Bruno Lopes - BIMMS</dc:creator>
  <cp:lastModifiedBy>Bruno Lopes - BIMMS</cp:lastModifiedBy>
  <cp:revision>1</cp:revision>
  <dcterms:created xsi:type="dcterms:W3CDTF">2026-10-15T12:40:30Z</dcterms:created>
  <dcterms:modified xsi:type="dcterms:W3CDTF">2026-10-15T12:40:30Z</dcterms:modified>
</cp:coreProperties>
</file>