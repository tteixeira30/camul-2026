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3A5CB-24AC-41F2-AA93-A7D9BE7E82AD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BD985-53FC-4BAA-90FB-A8F3DFD1BD80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9241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(Abertura comum do curso: 3 s, só música.)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871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Esta é a D. Rosa. Vive com demência. Todas as manhãs senta-se na mesma cadeira, junto à janela. O relógio da cozinha diz-lhe que são horas do café. As fotografias na parede lembram-lhe quem é. [pausa] Esta é a Ana, a filha. É ela quem cuida da mãe, todos os dias.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8307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Num fim de tarde de verão, chega um alerta: há um incêndio perto da aldeia e é preciso sair. [pausa] Uma crise muda tudo de um momento para o outro. Para uma pessoa com demência, muda ainda mais. E quem cuida tem de se manter de pé por dois.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0858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O incêndio é só um exemplo. Uma cheia, uma pandemia ou ter de fugir de uma guerra fazem o mesmo: tiram a rotina e as referências de um dia para o outro.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0229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Para a D. Rosa, a casa e a rotina são o que lhe dá segurança. Pode não saber em que dia está, mas sabe onde fica a sua cadeira. Numa crise, isto desaparece: há ruído, luzes, pressa, caras desconhecidas, um sítio novo. A pessoa com demência pode não perceber o que se passa, nem porque tem de sair. É normal que fique mais confusa, com medo ou agitada, ou que se recuse a sair. Não é teimosia. É a doença a reagir a um mundo que, de repente, deixou de fazer sentido.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8649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(Sem narração: aqui entra o vídeo da visita 3D, quando houver casa. Até lá fica este diapositivo.)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728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E a Ana? Também sente o choque: ansiedade, cansaço, irritação, dificuldade em pensar com clareza. São reações normais a uma situação que não é normal. Mas a Ana já vinha cansada. E numa crise perde, muitas vezes, a ajuda que tinha: o centro de dia, os vizinhos, a família. Nos planos de emergência, as pessoas com demência e quem cuida delas ficam muitas vezes esquecidas. Se a Ana não cuidar de si, não consegue cuidar da mãe.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8356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Há uma forma simples de ajudar nestes momentos: os primeiros socorros psicológicos. Não são terapia e não é preciso ser profissional. São três passos. [pausa] Observar: ver se há perigo, do que a pessoa precisa e como está a reagir. E como está você. [pausa] Escutar: aproximar-se com calma, ouvir sem pressa, ajudar a acalmar. [pausa] Encaminhar: responder às necessidades básicas e saber a quem pedir ajuda. [pausa] Neste curso, vai aplicar estes três passos à pessoa de quem cuida, e a si.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5727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Numa crise, a pessoa com demência perde as suas referências, e quem cuida fica sob pressão. Observar, escutar e encaminhar ajuda os dois.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2785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Mas há muito que pode fazer antes de a crise chegar. É isso que vamos ver na próxima lição: preparar antes.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2BD985-53FC-4BAA-90FB-A8F3DFD1BD80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933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E1F1F-075B-2D91-267F-26644EDD6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6417F6-4CBF-400E-49DF-E41088AB0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291F8C1-21EB-1806-79F5-4DDE3CF5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DDE7C81-B590-2A77-C522-894F5D90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1A6AD76-2CD3-04EE-821D-4800F0FD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43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69A6D-A29D-5EC7-5688-6660AC73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859EED9-6C28-90AE-FAB0-86CC2B65D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13888DC-5EBA-3E91-570C-BAE28459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BEC858A-6845-CBC4-F92A-F068C7A1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8185594-7D3A-BF20-3CFE-0D91ED38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675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054DF-2E21-678A-00F2-2DE67B19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B03F21F-C0D8-8286-757C-901CF1BF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E9A400-4A36-F08C-14D8-44E7A352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900DDEB-EDBA-7942-B0A7-5EDB879B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4F0F37A-4D39-492B-5985-DFF632F1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234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3B5CA-3E7F-8C38-EB6C-240759A4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A812E1E-24D6-5F79-7E76-40B804677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D949235-DB68-86DF-892C-53B692565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54EFC1A-C1D0-E73B-A53F-9B6CE7AB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99882E8-550B-5325-79F3-C4D63CA2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8F85AEE-7BAF-B5DF-318E-6D2A1367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2361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8F281-DE3F-6ADF-7752-BACC77DB2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3567457-50C4-B6EC-83EA-6F76C4267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EFC4444-814A-3D69-FD5C-78B2BD5D3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C931207-D10C-1212-164D-7A1E44779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FDFD60C-9FEB-47FE-D079-CE4B06E51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E37E3F8-4252-E533-0EAC-0900E32D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C487C7B-DB4A-0B51-E1F1-65EDAD84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369A790-DFC4-0E30-1DF0-AE4516D3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776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AE14A8-E352-7603-AA5A-9D584AC7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07A4406-1EAF-9A78-1F69-38FBD9BC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FB5ED84-1214-8D3C-C345-4063876C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9BD6262-35B8-8431-4AF7-8168FD0F9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720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5574D48-4AEF-1382-F9F1-48F987FB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C5A5541-3F89-0F01-870D-312C0925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E373747-C9AC-944E-3CE8-00444636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96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6132E-382A-0BAA-57FB-AAB942B0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ACCD732-ACD3-89D2-B888-C31977805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754C9FA-79E9-C9A6-1AC2-40AAFC260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0711362-A26E-5DAE-9CE5-F89FCBA18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A505FB5-D3FC-0CDF-7A56-5B141319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5EAA010-EBDE-AF8F-64B2-9C192790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43479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4F063-E5B0-E75A-493B-547E62460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3053A23-2460-B1BF-788D-659197028F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2362CF6-0511-0444-EA44-91FFD70D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9E72B51-127C-619F-D2F0-2C37F6D7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3C60BA0-FE7A-B9E3-D650-A05ABB8E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8C83ADA-000E-D148-4772-C8B10E5D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724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980A6-D825-E3F7-51F7-8069DB98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573E013-9B00-ABE0-FC2E-B8ECC8FFD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C87235-7554-3730-2DC6-2E46E8B0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8AB67E2-7863-9034-CF42-E3BACC413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7037512-2DCA-5324-0A60-6EAB048C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363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24B04A-BD56-8A71-E540-36F47D31E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BB6722F-7D06-6E64-7DDD-A6164E112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48AAFC3-012C-A69B-BCF3-7320DF29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798B1E1-704F-3A5E-6AB9-C408057F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F654CAC-279B-3497-199B-84824874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650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FC39659-D52D-DFBF-9BDA-C91DB2DBF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6A7C729-36EE-E05D-1BEC-042CA8F9B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5C64BD2-23B2-35FB-D426-973DA7B4E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823C2-C799-4062-96E7-449EA5610180}" type="datetimeFigureOut">
              <a:rPr lang="pt-PT" smtClean="0"/>
              <a:t>25/10/2026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40F031-AC6B-46A9-510B-2A158A7D4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2064D3-9792-4C0E-84D7-103E10CBF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9569B-591C-4E5D-A1B3-E8DB6F4A31E4}" type="slidenum">
              <a:rPr lang="pt-PT" smtClean="0"/>
              <a:t>‹#›</a:t>
            </a:fld>
            <a:endParaRPr lang="pt-PT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4FA2259-49AE-C535-41D9-F5AE7224DEE7}"/>
              </a:ext>
            </a:extLst>
          </p:cNvPr>
          <p:cNvSpPr/>
          <p:nvPr userDrawn="1"/>
        </p:nvSpPr>
        <p:spPr>
          <a:xfrm>
            <a:off x="0" y="6705600"/>
            <a:ext cx="6096000" cy="152400"/>
          </a:xfrm>
          <a:prstGeom prst="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752BE70-1718-AD39-BEC1-40073533DCAE}"/>
              </a:ext>
            </a:extLst>
          </p:cNvPr>
          <p:cNvSpPr/>
          <p:nvPr userDrawn="1"/>
        </p:nvSpPr>
        <p:spPr>
          <a:xfrm>
            <a:off x="6096000" y="6705600"/>
            <a:ext cx="6096000" cy="152400"/>
          </a:xfrm>
          <a:prstGeom prst="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E4B7B7F-8C9C-F63D-306E-3A9A3CFE6BF8}"/>
              </a:ext>
            </a:extLst>
          </p:cNvPr>
          <p:cNvSpPr txBox="1"/>
          <p:nvPr userDrawn="1"/>
        </p:nvSpPr>
        <p:spPr>
          <a:xfrm>
            <a:off x="304800" y="6350000"/>
            <a:ext cx="762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PT" sz="1200">
                <a:solidFill>
                  <a:srgbClr val="9A9A9A"/>
                </a:solidFill>
                <a:latin typeface="Segoe UI" panose="020B0502040204020203" pitchFamily="34" charset="0"/>
              </a:rPr>
              <a:t>Cuidar em Crise  ·  L1 Crise, demência e quem cuida</a:t>
            </a:r>
          </a:p>
        </p:txBody>
      </p:sp>
    </p:spTree>
    <p:extLst>
      <p:ext uri="{BB962C8B-B14F-4D97-AF65-F5344CB8AC3E}">
        <p14:creationId xmlns:p14="http://schemas.microsoft.com/office/powerpoint/2010/main" val="24496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sv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yset.com/peopl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F8B9D31-2DD0-E211-2A62-56F5AFED9505}"/>
              </a:ext>
            </a:extLst>
          </p:cNvPr>
          <p:cNvSpPr txBox="1"/>
          <p:nvPr/>
        </p:nvSpPr>
        <p:spPr>
          <a:xfrm>
            <a:off x="762000" y="1905000"/>
            <a:ext cx="10668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5400" b="1">
                <a:solidFill>
                  <a:srgbClr val="34495E"/>
                </a:solidFill>
                <a:latin typeface="Segoe UI" panose="020B0502040204020203" pitchFamily="34" charset="0"/>
              </a:rPr>
              <a:t>Cuidar em Crise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271197D-47BD-63D2-0D20-FFEE0C0C761E}"/>
              </a:ext>
            </a:extLst>
          </p:cNvPr>
          <p:cNvSpPr txBox="1"/>
          <p:nvPr/>
        </p:nvSpPr>
        <p:spPr>
          <a:xfrm>
            <a:off x="1270000" y="2984500"/>
            <a:ext cx="9652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Primeiros socorros psicológicos para cuidadores de pessoas com demência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5093DA7-4CAF-628A-9DFC-702CDC288065}"/>
              </a:ext>
            </a:extLst>
          </p:cNvPr>
          <p:cNvSpPr/>
          <p:nvPr/>
        </p:nvSpPr>
        <p:spPr>
          <a:xfrm>
            <a:off x="3429000" y="4191000"/>
            <a:ext cx="5334000" cy="5588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>
                <a:solidFill>
                  <a:srgbClr val="FFFFFF"/>
                </a:solidFill>
                <a:latin typeface="Segoe UI" panose="020B0502040204020203" pitchFamily="34" charset="0"/>
              </a:rPr>
              <a:t>Lição 1 · Crise, demência e quem cuida</a:t>
            </a:r>
          </a:p>
        </p:txBody>
      </p:sp>
      <p:pic>
        <p:nvPicPr>
          <p:cNvPr id="5" name="Musica">
            <a:hlinkClick r:id="" action="ppaction://media"/>
            <a:extLst>
              <a:ext uri="{FF2B5EF4-FFF2-40B4-BE49-F238E27FC236}">
                <a16:creationId xmlns:a16="http://schemas.microsoft.com/office/drawing/2014/main" id="{6C0F95E9-C1B2-BAD9-1C11-5C81307903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15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4" y="126999"/>
            <a:ext cx="508000" cy="508000"/>
          </a:xfrm>
          <a:prstGeom prst="rect">
            <a:avLst/>
          </a:prstGeom>
        </p:spPr>
      </p:pic>
      <p:pic>
        <p:nvPicPr>
          <p:cNvPr id="6" name="Relogio">
            <a:hlinkClick r:id="" action="ppaction://media"/>
            <a:extLst>
              <a:ext uri="{FF2B5EF4-FFF2-40B4-BE49-F238E27FC236}">
                <a16:creationId xmlns:a16="http://schemas.microsoft.com/office/drawing/2014/main" id="{2326E80F-C2D0-E548-A0DA-ED1903E62D9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>
                  <p14:fade out="5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4" y="634999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2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2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2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1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lustracao" descr="Ilustração: a D. Rosa e a Ana em casa">
            <a:extLst>
              <a:ext uri="{FF2B5EF4-FFF2-40B4-BE49-F238E27FC236}">
                <a16:creationId xmlns:a16="http://schemas.microsoft.com/office/drawing/2014/main" id="{046BD945-85C0-AFC0-5FF5-40FB0D48A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" b="2000"/>
          <a:stretch>
            <a:fillRect/>
          </a:stretch>
        </p:blipFill>
        <p:spPr>
          <a:xfrm>
            <a:off x="3288631" y="508000"/>
            <a:ext cx="5614737" cy="53340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0D26F38-F55B-A504-EB2E-3BC19271C7CA}"/>
              </a:ext>
            </a:extLst>
          </p:cNvPr>
          <p:cNvSpPr/>
          <p:nvPr/>
        </p:nvSpPr>
        <p:spPr>
          <a:xfrm>
            <a:off x="8890000" y="5080000"/>
            <a:ext cx="1778000" cy="457200"/>
          </a:xfrm>
          <a:prstGeom prst="roundRect">
            <a:avLst/>
          </a:prstGeom>
          <a:solidFill>
            <a:srgbClr val="2F6D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latin typeface="Segoe UI" panose="020B0502040204020203" pitchFamily="34" charset="0"/>
              </a:rPr>
              <a:t>D. Rosa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E5D7085-B417-52EF-44E0-A521F6B6CAA5}"/>
              </a:ext>
            </a:extLst>
          </p:cNvPr>
          <p:cNvSpPr/>
          <p:nvPr/>
        </p:nvSpPr>
        <p:spPr>
          <a:xfrm>
            <a:off x="1524000" y="5080000"/>
            <a:ext cx="1778000" cy="457200"/>
          </a:xfrm>
          <a:prstGeom prst="roundRect">
            <a:avLst/>
          </a:prstGeom>
          <a:solidFill>
            <a:srgbClr val="E07B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>
                <a:latin typeface="Segoe UI" panose="020B0502040204020203" pitchFamily="34" charset="0"/>
              </a:rPr>
              <a:t>Ana</a:t>
            </a:r>
          </a:p>
        </p:txBody>
      </p:sp>
    </p:spTree>
    <p:extLst>
      <p:ext uri="{BB962C8B-B14F-4D97-AF65-F5344CB8AC3E}">
        <p14:creationId xmlns:p14="http://schemas.microsoft.com/office/powerpoint/2010/main" val="275925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3BC1810-6A7B-E053-7090-1F19DEB24518}"/>
              </a:ext>
            </a:extLst>
          </p:cNvPr>
          <p:cNvSpPr txBox="1"/>
          <p:nvPr/>
        </p:nvSpPr>
        <p:spPr>
          <a:xfrm>
            <a:off x="7747000" y="1905000"/>
            <a:ext cx="39370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34495E"/>
                </a:solidFill>
                <a:latin typeface="Segoe UI" panose="020B0502040204020203" pitchFamily="34" charset="0"/>
              </a:rPr>
              <a:t>Uma crise muda tudo de um momento para o outro.</a:t>
            </a:r>
          </a:p>
        </p:txBody>
      </p:sp>
      <p:pic>
        <p:nvPicPr>
          <p:cNvPr id="4" name="Ilustracao" descr="Ilustração: pessoa ao telemóvel a receber um alerta">
            <a:extLst>
              <a:ext uri="{FF2B5EF4-FFF2-40B4-BE49-F238E27FC236}">
                <a16:creationId xmlns:a16="http://schemas.microsoft.com/office/drawing/2014/main" id="{0399CC5E-A5B8-06B3-DACB-D78DD121DD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00" t="5000" b="35000"/>
          <a:stretch>
            <a:fillRect/>
          </a:stretch>
        </p:blipFill>
        <p:spPr>
          <a:xfrm>
            <a:off x="2180167" y="635000"/>
            <a:ext cx="3767667" cy="5080000"/>
          </a:xfrm>
          <a:prstGeom prst="rect">
            <a:avLst/>
          </a:prstGeom>
        </p:spPr>
      </p:pic>
      <p:pic>
        <p:nvPicPr>
          <p:cNvPr id="2" name="Sirene">
            <a:hlinkClick r:id="" action="ppaction://media"/>
            <a:extLst>
              <a:ext uri="{FF2B5EF4-FFF2-40B4-BE49-F238E27FC236}">
                <a16:creationId xmlns:a16="http://schemas.microsoft.com/office/drawing/2014/main" id="{5BD9E12E-2CC5-0B94-CDBC-FEC24E8970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1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4" y="1142999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1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60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19C920-49C3-75EC-6D93-03D4F368EA0A}"/>
              </a:ext>
            </a:extLst>
          </p:cNvPr>
          <p:cNvSpPr txBox="1"/>
          <p:nvPr/>
        </p:nvSpPr>
        <p:spPr>
          <a:xfrm>
            <a:off x="762000" y="1397000"/>
            <a:ext cx="10668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4000" b="1">
                <a:solidFill>
                  <a:srgbClr val="34495E"/>
                </a:solidFill>
                <a:latin typeface="Segoe UI" panose="020B0502040204020203" pitchFamily="34" charset="0"/>
              </a:rPr>
              <a:t>L1 · Crise, demência e quem cuida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5B58E4-835E-6055-7C36-CF46E0BEB38E}"/>
              </a:ext>
            </a:extLst>
          </p:cNvPr>
          <p:cNvSpPr txBox="1"/>
          <p:nvPr/>
        </p:nvSpPr>
        <p:spPr>
          <a:xfrm>
            <a:off x="762000" y="23495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200">
                <a:solidFill>
                  <a:srgbClr val="2B2B2B"/>
                </a:solidFill>
                <a:latin typeface="Segoe UI" panose="020B0502040204020203" pitchFamily="34" charset="0"/>
              </a:rPr>
              <a:t>O incêndio é só um exemplo.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4711C0-CB40-FD5E-C1A7-1465F907B81B}"/>
              </a:ext>
            </a:extLst>
          </p:cNvPr>
          <p:cNvSpPr/>
          <p:nvPr/>
        </p:nvSpPr>
        <p:spPr>
          <a:xfrm>
            <a:off x="1524000" y="3429000"/>
            <a:ext cx="1905000" cy="1905000"/>
          </a:xfrm>
          <a:prstGeom prst="ellipse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30200" rtlCol="0" anchor="b">
            <a:noAutofit/>
          </a:bodyPr>
          <a:lstStyle/>
          <a:p>
            <a:pPr algn="ctr"/>
            <a:endParaRPr lang="pt-PT">
              <a:solidFill>
                <a:srgbClr val="2B2B2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BD1E07-9F59-E479-F27E-E3639973A99F}"/>
              </a:ext>
            </a:extLst>
          </p:cNvPr>
          <p:cNvSpPr/>
          <p:nvPr/>
        </p:nvSpPr>
        <p:spPr>
          <a:xfrm>
            <a:off x="3937000" y="3429000"/>
            <a:ext cx="1905000" cy="1905000"/>
          </a:xfrm>
          <a:prstGeom prst="ellipse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30200" rtlCol="0" anchor="b">
            <a:noAutofit/>
          </a:bodyPr>
          <a:lstStyle/>
          <a:p>
            <a:pPr algn="ctr"/>
            <a:endParaRPr lang="pt-PT">
              <a:solidFill>
                <a:srgbClr val="2B2B2B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891B72-56AD-4B44-8412-915EA65F484D}"/>
              </a:ext>
            </a:extLst>
          </p:cNvPr>
          <p:cNvSpPr/>
          <p:nvPr/>
        </p:nvSpPr>
        <p:spPr>
          <a:xfrm>
            <a:off x="6350000" y="3429000"/>
            <a:ext cx="1905000" cy="1905000"/>
          </a:xfrm>
          <a:prstGeom prst="ellipse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30200" rtlCol="0" anchor="b">
            <a:noAutofit/>
          </a:bodyPr>
          <a:lstStyle/>
          <a:p>
            <a:pPr algn="ctr"/>
            <a:endParaRPr lang="pt-PT">
              <a:solidFill>
                <a:srgbClr val="2B2B2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913308-60C0-F1FB-0D98-AE3365008183}"/>
              </a:ext>
            </a:extLst>
          </p:cNvPr>
          <p:cNvSpPr/>
          <p:nvPr/>
        </p:nvSpPr>
        <p:spPr>
          <a:xfrm>
            <a:off x="8763000" y="3429000"/>
            <a:ext cx="1905000" cy="1905000"/>
          </a:xfrm>
          <a:prstGeom prst="ellipse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330200" rtlCol="0" anchor="b">
            <a:noAutofit/>
          </a:bodyPr>
          <a:lstStyle/>
          <a:p>
            <a:pPr algn="ctr"/>
            <a:endParaRPr lang="pt-PT">
              <a:solidFill>
                <a:srgbClr val="2B2B2B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Icone_fogo" descr="Ícone: Incêndio">
            <a:extLst>
              <a:ext uri="{FF2B5EF4-FFF2-40B4-BE49-F238E27FC236}">
                <a16:creationId xmlns:a16="http://schemas.microsoft.com/office/drawing/2014/main" id="{0FD1F96D-5294-94A2-E0B3-011926907AD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5500" y="3810000"/>
            <a:ext cx="762000" cy="762000"/>
          </a:xfrm>
          <a:prstGeom prst="rect">
            <a:avLst/>
          </a:prstGeom>
        </p:spPr>
      </p:pic>
      <p:pic>
        <p:nvPicPr>
          <p:cNvPr id="11" name="Icone_cheia" descr="Ícone: Cheia">
            <a:extLst>
              <a:ext uri="{FF2B5EF4-FFF2-40B4-BE49-F238E27FC236}">
                <a16:creationId xmlns:a16="http://schemas.microsoft.com/office/drawing/2014/main" id="{199F8AE1-E8C2-32FE-334A-89B60AF7C05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3810000"/>
            <a:ext cx="762000" cy="762000"/>
          </a:xfrm>
          <a:prstGeom prst="rect">
            <a:avLst/>
          </a:prstGeom>
        </p:spPr>
      </p:pic>
      <p:pic>
        <p:nvPicPr>
          <p:cNvPr id="13" name="Icone_virus" descr="Ícone: Pandemia">
            <a:extLst>
              <a:ext uri="{FF2B5EF4-FFF2-40B4-BE49-F238E27FC236}">
                <a16:creationId xmlns:a16="http://schemas.microsoft.com/office/drawing/2014/main" id="{900C539B-7492-7578-C485-4015044F2EE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1500" y="3810000"/>
            <a:ext cx="762000" cy="762000"/>
          </a:xfrm>
          <a:prstGeom prst="rect">
            <a:avLst/>
          </a:prstGeom>
        </p:spPr>
      </p:pic>
      <p:pic>
        <p:nvPicPr>
          <p:cNvPr id="15" name="Icone_deslocacao" descr="Ícone: Deslocação">
            <a:extLst>
              <a:ext uri="{FF2B5EF4-FFF2-40B4-BE49-F238E27FC236}">
                <a16:creationId xmlns:a16="http://schemas.microsoft.com/office/drawing/2014/main" id="{AEA89D2D-0738-1A5C-87A0-429C5EB7233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3810000"/>
            <a:ext cx="762000" cy="762000"/>
          </a:xfrm>
          <a:prstGeom prst="rect">
            <a:avLst/>
          </a:prstGeom>
        </p:spPr>
      </p:pic>
      <p:sp>
        <p:nvSpPr>
          <p:cNvPr id="8" name="Rotulo_fogo">
            <a:extLst>
              <a:ext uri="{FF2B5EF4-FFF2-40B4-BE49-F238E27FC236}">
                <a16:creationId xmlns:a16="http://schemas.microsoft.com/office/drawing/2014/main" id="{C5705EC7-4283-303B-9E70-F403C6A255E8}"/>
              </a:ext>
            </a:extLst>
          </p:cNvPr>
          <p:cNvSpPr txBox="1"/>
          <p:nvPr/>
        </p:nvSpPr>
        <p:spPr>
          <a:xfrm>
            <a:off x="1524000" y="4648200"/>
            <a:ext cx="1905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Incêndio</a:t>
            </a:r>
          </a:p>
        </p:txBody>
      </p:sp>
      <p:sp>
        <p:nvSpPr>
          <p:cNvPr id="10" name="Rotulo_cheia">
            <a:extLst>
              <a:ext uri="{FF2B5EF4-FFF2-40B4-BE49-F238E27FC236}">
                <a16:creationId xmlns:a16="http://schemas.microsoft.com/office/drawing/2014/main" id="{C374B0F9-50BB-1650-5AF5-A15B91B0DF8E}"/>
              </a:ext>
            </a:extLst>
          </p:cNvPr>
          <p:cNvSpPr txBox="1"/>
          <p:nvPr/>
        </p:nvSpPr>
        <p:spPr>
          <a:xfrm>
            <a:off x="3937000" y="4648200"/>
            <a:ext cx="1905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Cheia</a:t>
            </a:r>
          </a:p>
        </p:txBody>
      </p:sp>
      <p:sp>
        <p:nvSpPr>
          <p:cNvPr id="12" name="Rotulo_virus">
            <a:extLst>
              <a:ext uri="{FF2B5EF4-FFF2-40B4-BE49-F238E27FC236}">
                <a16:creationId xmlns:a16="http://schemas.microsoft.com/office/drawing/2014/main" id="{F185E370-A19C-2407-2DD1-00188317D9BF}"/>
              </a:ext>
            </a:extLst>
          </p:cNvPr>
          <p:cNvSpPr txBox="1"/>
          <p:nvPr/>
        </p:nvSpPr>
        <p:spPr>
          <a:xfrm>
            <a:off x="6350000" y="4648200"/>
            <a:ext cx="1905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Pandemia</a:t>
            </a:r>
          </a:p>
        </p:txBody>
      </p:sp>
      <p:sp>
        <p:nvSpPr>
          <p:cNvPr id="14" name="Rotulo_deslocacao">
            <a:extLst>
              <a:ext uri="{FF2B5EF4-FFF2-40B4-BE49-F238E27FC236}">
                <a16:creationId xmlns:a16="http://schemas.microsoft.com/office/drawing/2014/main" id="{1C473D96-AC29-C7B5-C061-01D5CA15F42C}"/>
              </a:ext>
            </a:extLst>
          </p:cNvPr>
          <p:cNvSpPr txBox="1"/>
          <p:nvPr/>
        </p:nvSpPr>
        <p:spPr>
          <a:xfrm>
            <a:off x="8763000" y="4648200"/>
            <a:ext cx="1905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Deslocação</a:t>
            </a:r>
          </a:p>
        </p:txBody>
      </p:sp>
      <p:pic>
        <p:nvPicPr>
          <p:cNvPr id="16" name="Musica">
            <a:hlinkClick r:id="" action="ppaction://media"/>
            <a:extLst>
              <a:ext uri="{FF2B5EF4-FFF2-40B4-BE49-F238E27FC236}">
                <a16:creationId xmlns:a16="http://schemas.microsoft.com/office/drawing/2014/main" id="{EC492B76-4800-2128-8282-16E5A54A6C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150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851524" y="1142999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6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56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10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A3F84A-2AF2-2995-8001-93C0B7966A23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A1FAC3-A261-38B3-A9F1-2493FF59969A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A pessoa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239001-6B92-B2A4-F71C-B0962A65CAF7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1D9600F-2FD1-180C-A67E-753DD998E074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Quem cuida</a:t>
            </a:r>
          </a:p>
        </p:txBody>
      </p:sp>
      <p:pic>
        <p:nvPicPr>
          <p:cNvPr id="8" name="Ilustracao" descr="Ilustração: a D. Rosa confusa, com a mão na cabeça">
            <a:extLst>
              <a:ext uri="{FF2B5EF4-FFF2-40B4-BE49-F238E27FC236}">
                <a16:creationId xmlns:a16="http://schemas.microsoft.com/office/drawing/2014/main" id="{C183B368-465F-3B4F-D7A4-C06CD8FC4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0" t="4000" r="4000" b="45000"/>
          <a:stretch>
            <a:fillRect/>
          </a:stretch>
        </p:blipFill>
        <p:spPr>
          <a:xfrm>
            <a:off x="972110" y="1206500"/>
            <a:ext cx="4151779" cy="3619500"/>
          </a:xfrm>
          <a:prstGeom prst="rect">
            <a:avLst/>
          </a:prstGeom>
        </p:spPr>
      </p:pic>
      <p:sp>
        <p:nvSpPr>
          <p:cNvPr id="4" name="Palavra_1">
            <a:extLst>
              <a:ext uri="{FF2B5EF4-FFF2-40B4-BE49-F238E27FC236}">
                <a16:creationId xmlns:a16="http://schemas.microsoft.com/office/drawing/2014/main" id="{57608D5A-713F-C94E-6B4F-BB2187A9944E}"/>
              </a:ext>
            </a:extLst>
          </p:cNvPr>
          <p:cNvSpPr txBox="1"/>
          <p:nvPr/>
        </p:nvSpPr>
        <p:spPr>
          <a:xfrm>
            <a:off x="866531" y="4953000"/>
            <a:ext cx="1719125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Desorientação</a:t>
            </a:r>
          </a:p>
        </p:txBody>
      </p:sp>
      <p:sp>
        <p:nvSpPr>
          <p:cNvPr id="9" name="Ponto_1">
            <a:extLst>
              <a:ext uri="{FF2B5EF4-FFF2-40B4-BE49-F238E27FC236}">
                <a16:creationId xmlns:a16="http://schemas.microsoft.com/office/drawing/2014/main" id="{FED6F132-ACC6-2954-2F0F-C9A5ECAD3ACE}"/>
              </a:ext>
            </a:extLst>
          </p:cNvPr>
          <p:cNvSpPr txBox="1"/>
          <p:nvPr/>
        </p:nvSpPr>
        <p:spPr>
          <a:xfrm>
            <a:off x="2738056" y="4953000"/>
            <a:ext cx="68930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·</a:t>
            </a:r>
          </a:p>
        </p:txBody>
      </p:sp>
      <p:sp>
        <p:nvSpPr>
          <p:cNvPr id="10" name="Palavra_2">
            <a:extLst>
              <a:ext uri="{FF2B5EF4-FFF2-40B4-BE49-F238E27FC236}">
                <a16:creationId xmlns:a16="http://schemas.microsoft.com/office/drawing/2014/main" id="{446DDA7D-730A-3DFB-11EA-B79CB97732F2}"/>
              </a:ext>
            </a:extLst>
          </p:cNvPr>
          <p:cNvSpPr txBox="1"/>
          <p:nvPr/>
        </p:nvSpPr>
        <p:spPr>
          <a:xfrm>
            <a:off x="2959386" y="4953000"/>
            <a:ext cx="1067600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Agitação</a:t>
            </a:r>
          </a:p>
        </p:txBody>
      </p:sp>
      <p:sp>
        <p:nvSpPr>
          <p:cNvPr id="11" name="Ponto_2">
            <a:extLst>
              <a:ext uri="{FF2B5EF4-FFF2-40B4-BE49-F238E27FC236}">
                <a16:creationId xmlns:a16="http://schemas.microsoft.com/office/drawing/2014/main" id="{3588B2CD-62DC-4B60-7D1F-6C73D6763E24}"/>
              </a:ext>
            </a:extLst>
          </p:cNvPr>
          <p:cNvSpPr txBox="1"/>
          <p:nvPr/>
        </p:nvSpPr>
        <p:spPr>
          <a:xfrm>
            <a:off x="4179386" y="4953000"/>
            <a:ext cx="68930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·</a:t>
            </a:r>
          </a:p>
        </p:txBody>
      </p:sp>
      <p:sp>
        <p:nvSpPr>
          <p:cNvPr id="12" name="Palavra_3">
            <a:extLst>
              <a:ext uri="{FF2B5EF4-FFF2-40B4-BE49-F238E27FC236}">
                <a16:creationId xmlns:a16="http://schemas.microsoft.com/office/drawing/2014/main" id="{1E1D45EB-018E-7FCB-91D4-CA1CE165214A}"/>
              </a:ext>
            </a:extLst>
          </p:cNvPr>
          <p:cNvSpPr txBox="1"/>
          <p:nvPr/>
        </p:nvSpPr>
        <p:spPr>
          <a:xfrm>
            <a:off x="4400716" y="4953000"/>
            <a:ext cx="828753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2F6DB5"/>
                </a:solidFill>
                <a:latin typeface="Segoe UI" panose="020B0502040204020203" pitchFamily="34" charset="0"/>
              </a:rPr>
              <a:t>Recusa</a:t>
            </a:r>
          </a:p>
        </p:txBody>
      </p:sp>
      <p:pic>
        <p:nvPicPr>
          <p:cNvPr id="5" name="Musica">
            <a:hlinkClick r:id="" action="ppaction://media"/>
            <a:extLst>
              <a:ext uri="{FF2B5EF4-FFF2-40B4-BE49-F238E27FC236}">
                <a16:creationId xmlns:a16="http://schemas.microsoft.com/office/drawing/2014/main" id="{D2D14AF4-109A-873D-DDA8-5ACB578BD9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15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4" y="634999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7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5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4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utoUpdateAnimBg="0"/>
      <p:bldP spid="10" grpId="0" autoUpdateAnimBg="0"/>
      <p:bldP spid="1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ABE7E0A-A683-231A-6C7F-F095713B1EFD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200" b="1">
                <a:solidFill>
                  <a:srgbClr val="2F6DB5"/>
                </a:solidFill>
                <a:latin typeface="Segoe UI" panose="020B0502040204020203" pitchFamily="34" charset="0"/>
              </a:rPr>
              <a:t>A casa pelos olhos da D. Rosa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CA9096-CA11-A558-7DF1-EAD5FCA6396F}"/>
              </a:ext>
            </a:extLst>
          </p:cNvPr>
          <p:cNvSpPr/>
          <p:nvPr/>
        </p:nvSpPr>
        <p:spPr>
          <a:xfrm>
            <a:off x="1397000" y="1397000"/>
            <a:ext cx="939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>
                <a:solidFill>
                  <a:srgbClr val="2F6DB5"/>
                </a:solidFill>
                <a:latin typeface="Segoe UI" panose="020B0502040204020203" pitchFamily="34" charset="0"/>
              </a:rPr>
              <a:t>[Visita 3D gravada · Matterport · 30–60 s]</a:t>
            </a:r>
          </a:p>
          <a:p>
            <a:pPr algn="ctr"/>
            <a:r>
              <a:rPr lang="pt-PT" sz="1600">
                <a:solidFill>
                  <a:srgbClr val="2F6DB5"/>
                </a:solidFill>
                <a:latin typeface="Segoe UI" panose="020B0502040204020203" pitchFamily="34" charset="0"/>
              </a:rPr>
              <a:t>Cadeira · Fotografias · Relógio · Cozinha</a:t>
            </a:r>
          </a:p>
        </p:txBody>
      </p:sp>
    </p:spTree>
    <p:extLst>
      <p:ext uri="{BB962C8B-B14F-4D97-AF65-F5344CB8AC3E}">
        <p14:creationId xmlns:p14="http://schemas.microsoft.com/office/powerpoint/2010/main" val="409218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14F9424-4A2B-1151-BCCB-A2DEA202FD16}"/>
              </a:ext>
            </a:extLst>
          </p:cNvPr>
          <p:cNvSpPr/>
          <p:nvPr/>
        </p:nvSpPr>
        <p:spPr>
          <a:xfrm>
            <a:off x="0" y="0"/>
            <a:ext cx="6096000" cy="6705600"/>
          </a:xfrm>
          <a:prstGeom prst="rect">
            <a:avLst/>
          </a:prstGeom>
          <a:solidFill>
            <a:srgbClr val="ECEA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BBB064-7CC8-CD5E-30E0-5E6423306080}"/>
              </a:ext>
            </a:extLst>
          </p:cNvPr>
          <p:cNvSpPr txBox="1"/>
          <p:nvPr/>
        </p:nvSpPr>
        <p:spPr>
          <a:xfrm>
            <a:off x="381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9A9A9A"/>
                </a:solidFill>
                <a:latin typeface="Segoe UI" panose="020B0502040204020203" pitchFamily="34" charset="0"/>
              </a:rPr>
              <a:t>A pessoa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99E4AD7-BE6E-0782-3E83-F8C8CFB4B53C}"/>
              </a:ext>
            </a:extLst>
          </p:cNvPr>
          <p:cNvSpPr/>
          <p:nvPr/>
        </p:nvSpPr>
        <p:spPr>
          <a:xfrm>
            <a:off x="6096000" y="0"/>
            <a:ext cx="6096000" cy="6705600"/>
          </a:xfrm>
          <a:prstGeom prst="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20FC8B-349A-1FF3-BDAB-A8227B60187F}"/>
              </a:ext>
            </a:extLst>
          </p:cNvPr>
          <p:cNvSpPr txBox="1"/>
          <p:nvPr/>
        </p:nvSpPr>
        <p:spPr>
          <a:xfrm>
            <a:off x="6477000" y="381000"/>
            <a:ext cx="533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t-PT" sz="3200" b="1">
                <a:solidFill>
                  <a:srgbClr val="E07B2E"/>
                </a:solidFill>
                <a:latin typeface="Segoe UI" panose="020B0502040204020203" pitchFamily="34" charset="0"/>
              </a:rPr>
              <a:t>Quem cuida</a:t>
            </a:r>
          </a:p>
        </p:txBody>
      </p:sp>
      <p:pic>
        <p:nvPicPr>
          <p:cNvPr id="8" name="Ilustracao" descr="Ilustração: quem cuida, preocupado e cansado">
            <a:extLst>
              <a:ext uri="{FF2B5EF4-FFF2-40B4-BE49-F238E27FC236}">
                <a16:creationId xmlns:a16="http://schemas.microsoft.com/office/drawing/2014/main" id="{C2B2C5F3-30A6-284D-A1DD-B26F866AC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t="9000" r="6000" b="5000"/>
          <a:stretch>
            <a:fillRect/>
          </a:stretch>
        </p:blipFill>
        <p:spPr>
          <a:xfrm>
            <a:off x="7207989" y="1206500"/>
            <a:ext cx="3872023" cy="3619500"/>
          </a:xfrm>
          <a:prstGeom prst="rect">
            <a:avLst/>
          </a:prstGeom>
        </p:spPr>
      </p:pic>
      <p:sp>
        <p:nvSpPr>
          <p:cNvPr id="6" name="Palavra_1">
            <a:extLst>
              <a:ext uri="{FF2B5EF4-FFF2-40B4-BE49-F238E27FC236}">
                <a16:creationId xmlns:a16="http://schemas.microsoft.com/office/drawing/2014/main" id="{385964F9-4270-0B3B-3765-4B969B594917}"/>
              </a:ext>
            </a:extLst>
          </p:cNvPr>
          <p:cNvSpPr txBox="1"/>
          <p:nvPr/>
        </p:nvSpPr>
        <p:spPr>
          <a:xfrm>
            <a:off x="7142708" y="4953000"/>
            <a:ext cx="1255152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Ansiedade</a:t>
            </a:r>
          </a:p>
        </p:txBody>
      </p:sp>
      <p:sp>
        <p:nvSpPr>
          <p:cNvPr id="9" name="Ponto_1">
            <a:extLst>
              <a:ext uri="{FF2B5EF4-FFF2-40B4-BE49-F238E27FC236}">
                <a16:creationId xmlns:a16="http://schemas.microsoft.com/office/drawing/2014/main" id="{54AFD311-F21C-47AB-C845-8F4BACA518E7}"/>
              </a:ext>
            </a:extLst>
          </p:cNvPr>
          <p:cNvSpPr txBox="1"/>
          <p:nvPr/>
        </p:nvSpPr>
        <p:spPr>
          <a:xfrm>
            <a:off x="8550260" y="4953000"/>
            <a:ext cx="68930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·</a:t>
            </a:r>
          </a:p>
        </p:txBody>
      </p:sp>
      <p:sp>
        <p:nvSpPr>
          <p:cNvPr id="10" name="Palavra_2">
            <a:extLst>
              <a:ext uri="{FF2B5EF4-FFF2-40B4-BE49-F238E27FC236}">
                <a16:creationId xmlns:a16="http://schemas.microsoft.com/office/drawing/2014/main" id="{427D0700-03F8-AB95-BF3E-01D7E37916B8}"/>
              </a:ext>
            </a:extLst>
          </p:cNvPr>
          <p:cNvSpPr txBox="1"/>
          <p:nvPr/>
        </p:nvSpPr>
        <p:spPr>
          <a:xfrm>
            <a:off x="8771590" y="4953000"/>
            <a:ext cx="984244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Cansaço</a:t>
            </a:r>
          </a:p>
        </p:txBody>
      </p:sp>
      <p:sp>
        <p:nvSpPr>
          <p:cNvPr id="11" name="Ponto_2">
            <a:extLst>
              <a:ext uri="{FF2B5EF4-FFF2-40B4-BE49-F238E27FC236}">
                <a16:creationId xmlns:a16="http://schemas.microsoft.com/office/drawing/2014/main" id="{96A261ED-EA05-E5EC-C695-0201240098FE}"/>
              </a:ext>
            </a:extLst>
          </p:cNvPr>
          <p:cNvSpPr txBox="1"/>
          <p:nvPr/>
        </p:nvSpPr>
        <p:spPr>
          <a:xfrm>
            <a:off x="9908235" y="4953000"/>
            <a:ext cx="68930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·</a:t>
            </a:r>
          </a:p>
        </p:txBody>
      </p:sp>
      <p:sp>
        <p:nvSpPr>
          <p:cNvPr id="12" name="Palavra_3">
            <a:extLst>
              <a:ext uri="{FF2B5EF4-FFF2-40B4-BE49-F238E27FC236}">
                <a16:creationId xmlns:a16="http://schemas.microsoft.com/office/drawing/2014/main" id="{F4523AAF-C1BF-B4ED-D663-59889CB63618}"/>
              </a:ext>
            </a:extLst>
          </p:cNvPr>
          <p:cNvSpPr txBox="1"/>
          <p:nvPr/>
        </p:nvSpPr>
        <p:spPr>
          <a:xfrm>
            <a:off x="10129565" y="4953000"/>
            <a:ext cx="1015727" cy="4001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pt-PT" sz="2000" b="1">
                <a:solidFill>
                  <a:srgbClr val="E07B2E"/>
                </a:solidFill>
                <a:latin typeface="Segoe UI" panose="020B0502040204020203" pitchFamily="34" charset="0"/>
              </a:rPr>
              <a:t>Irritação</a:t>
            </a:r>
          </a:p>
        </p:txBody>
      </p:sp>
    </p:spTree>
    <p:extLst>
      <p:ext uri="{BB962C8B-B14F-4D97-AF65-F5344CB8AC3E}">
        <p14:creationId xmlns:p14="http://schemas.microsoft.com/office/powerpoint/2010/main" val="350346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A8F2FBF-9415-97CC-CC8D-044E7F794771}"/>
              </a:ext>
            </a:extLst>
          </p:cNvPr>
          <p:cNvSpPr txBox="1"/>
          <p:nvPr/>
        </p:nvSpPr>
        <p:spPr>
          <a:xfrm>
            <a:off x="762000" y="381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Primeiros socorros psicológicos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77EC79-E9A8-43B1-8791-0B209E4E1277}"/>
              </a:ext>
            </a:extLst>
          </p:cNvPr>
          <p:cNvSpPr txBox="1"/>
          <p:nvPr/>
        </p:nvSpPr>
        <p:spPr>
          <a:xfrm>
            <a:off x="762000" y="10160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>
                <a:solidFill>
                  <a:srgbClr val="2B2B2B"/>
                </a:solidFill>
                <a:latin typeface="Segoe UI" panose="020B0502040204020203" pitchFamily="34" charset="0"/>
              </a:rPr>
              <a:t>Três passos, para a pessoa e para si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68D62871-2538-39D0-4877-D16260B4CDA4}"/>
              </a:ext>
            </a:extLst>
          </p:cNvPr>
          <p:cNvSpPr/>
          <p:nvPr/>
        </p:nvSpPr>
        <p:spPr>
          <a:xfrm>
            <a:off x="3975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520285A9-558D-CD64-23FA-843A1728BB24}"/>
              </a:ext>
            </a:extLst>
          </p:cNvPr>
          <p:cNvSpPr/>
          <p:nvPr/>
        </p:nvSpPr>
        <p:spPr>
          <a:xfrm>
            <a:off x="7658100" y="3429000"/>
            <a:ext cx="558800" cy="457200"/>
          </a:xfrm>
          <a:prstGeom prst="rightArrow">
            <a:avLst/>
          </a:prstGeom>
          <a:solidFill>
            <a:srgbClr val="9A9A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23" name="Agrupar 7">
            <a:extLst>
              <a:ext uri="{FF2B5EF4-FFF2-40B4-BE49-F238E27FC236}">
                <a16:creationId xmlns:a16="http://schemas.microsoft.com/office/drawing/2014/main" id="{F9FCB992-1930-122F-D1C3-537FCBBE5C82}"/>
              </a:ext>
            </a:extLst>
          </p:cNvPr>
          <p:cNvGrpSpPr/>
          <p:nvPr/>
        </p:nvGrpSpPr>
        <p:grpSpPr>
          <a:xfrm>
            <a:off x="889000" y="1778000"/>
            <a:ext cx="3048000" cy="3810000"/>
            <a:chOff x="889000" y="1778000"/>
            <a:chExt cx="3048000" cy="3810000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79F594CE-9C0A-DE9F-5746-07EBEEE9FBD8}"/>
                </a:ext>
              </a:extLst>
            </p:cNvPr>
            <p:cNvSpPr/>
            <p:nvPr/>
          </p:nvSpPr>
          <p:spPr>
            <a:xfrm>
              <a:off x="889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A2644AE-1842-5E99-657A-948A4C7D7676}"/>
                </a:ext>
              </a:extLst>
            </p:cNvPr>
            <p:cNvSpPr/>
            <p:nvPr/>
          </p:nvSpPr>
          <p:spPr>
            <a:xfrm>
              <a:off x="2032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latin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4458D0C7-CB36-A1C8-A7BB-15CC49219E1E}"/>
                </a:ext>
              </a:extLst>
            </p:cNvPr>
            <p:cNvSpPr txBox="1"/>
            <p:nvPr/>
          </p:nvSpPr>
          <p:spPr>
            <a:xfrm>
              <a:off x="889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Observar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9E63402-3126-2288-F614-A3F89CF6B0CA}"/>
                </a:ext>
              </a:extLst>
            </p:cNvPr>
            <p:cNvSpPr txBox="1"/>
            <p:nvPr/>
          </p:nvSpPr>
          <p:spPr>
            <a:xfrm>
              <a:off x="1079500" y="3619500"/>
              <a:ext cx="2667000" cy="8771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Há perigo? De que precisa a pessoa? E como estou eu?</a:t>
              </a:r>
            </a:p>
          </p:txBody>
        </p:sp>
        <p:pic>
          <p:nvPicPr>
            <p:cNvPr id="22" name="Icone_observar" descr="Ícone: Observar">
              <a:extLst>
                <a:ext uri="{FF2B5EF4-FFF2-40B4-BE49-F238E27FC236}">
                  <a16:creationId xmlns:a16="http://schemas.microsoft.com/office/drawing/2014/main" id="{92407B43-C1F9-DA0B-A5D7-E066D2918BF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82800" y="4724400"/>
              <a:ext cx="660400" cy="660400"/>
            </a:xfrm>
            <a:prstGeom prst="rect">
              <a:avLst/>
            </a:prstGeom>
          </p:spPr>
        </p:pic>
      </p:grpSp>
      <p:grpSp>
        <p:nvGrpSpPr>
          <p:cNvPr id="26" name="Agrupar 13">
            <a:extLst>
              <a:ext uri="{FF2B5EF4-FFF2-40B4-BE49-F238E27FC236}">
                <a16:creationId xmlns:a16="http://schemas.microsoft.com/office/drawing/2014/main" id="{64AEAAB9-0F26-D9D0-5AC8-AC5A1D9B83D9}"/>
              </a:ext>
            </a:extLst>
          </p:cNvPr>
          <p:cNvGrpSpPr/>
          <p:nvPr/>
        </p:nvGrpSpPr>
        <p:grpSpPr>
          <a:xfrm>
            <a:off x="4572000" y="1778000"/>
            <a:ext cx="3048000" cy="3810000"/>
            <a:chOff x="4572000" y="1778000"/>
            <a:chExt cx="3048000" cy="3810000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AD6E5918-D3C3-09CF-C396-44808C954CDC}"/>
                </a:ext>
              </a:extLst>
            </p:cNvPr>
            <p:cNvSpPr/>
            <p:nvPr/>
          </p:nvSpPr>
          <p:spPr>
            <a:xfrm>
              <a:off x="4572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CC3136-5730-EEF6-E882-037698D60D68}"/>
                </a:ext>
              </a:extLst>
            </p:cNvPr>
            <p:cNvSpPr/>
            <p:nvPr/>
          </p:nvSpPr>
          <p:spPr>
            <a:xfrm>
              <a:off x="5715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latin typeface="Segoe UI" panose="020B050204020402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BA796783-1248-B5CA-80FB-159202F7DB12}"/>
                </a:ext>
              </a:extLst>
            </p:cNvPr>
            <p:cNvSpPr txBox="1"/>
            <p:nvPr/>
          </p:nvSpPr>
          <p:spPr>
            <a:xfrm>
              <a:off x="4572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Escutar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4BDC7607-01B1-14EE-568A-773E8F509083}"/>
                </a:ext>
              </a:extLst>
            </p:cNvPr>
            <p:cNvSpPr txBox="1"/>
            <p:nvPr/>
          </p:nvSpPr>
          <p:spPr>
            <a:xfrm>
              <a:off x="4762500" y="3619500"/>
              <a:ext cx="2667000" cy="61555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Aproximar-se com calma, ouvir sem pressa, acalmar.</a:t>
              </a:r>
            </a:p>
          </p:txBody>
        </p:sp>
        <p:pic>
          <p:nvPicPr>
            <p:cNvPr id="25" name="Icone_escutar" descr="Ícone: Escutar">
              <a:extLst>
                <a:ext uri="{FF2B5EF4-FFF2-40B4-BE49-F238E27FC236}">
                  <a16:creationId xmlns:a16="http://schemas.microsoft.com/office/drawing/2014/main" id="{1F5F0134-6182-84AC-181B-93D32AF32A1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65800" y="4724400"/>
              <a:ext cx="660400" cy="660400"/>
            </a:xfrm>
            <a:prstGeom prst="rect">
              <a:avLst/>
            </a:prstGeom>
          </p:spPr>
        </p:pic>
      </p:grpSp>
      <p:grpSp>
        <p:nvGrpSpPr>
          <p:cNvPr id="29" name="Agrupar 19">
            <a:extLst>
              <a:ext uri="{FF2B5EF4-FFF2-40B4-BE49-F238E27FC236}">
                <a16:creationId xmlns:a16="http://schemas.microsoft.com/office/drawing/2014/main" id="{C8ED2FAD-E673-B4FA-9478-FFD1511885F2}"/>
              </a:ext>
            </a:extLst>
          </p:cNvPr>
          <p:cNvGrpSpPr/>
          <p:nvPr/>
        </p:nvGrpSpPr>
        <p:grpSpPr>
          <a:xfrm>
            <a:off x="8255000" y="1778000"/>
            <a:ext cx="3048000" cy="3810000"/>
            <a:chOff x="8255000" y="1778000"/>
            <a:chExt cx="3048000" cy="3810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FF401F37-0C54-5BEB-D1F2-4DE78BE30E34}"/>
                </a:ext>
              </a:extLst>
            </p:cNvPr>
            <p:cNvSpPr/>
            <p:nvPr/>
          </p:nvSpPr>
          <p:spPr>
            <a:xfrm>
              <a:off x="8255000" y="1778000"/>
              <a:ext cx="3048000" cy="381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3449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F6BC12E-1EA7-7A51-48BC-82CA0BC0746F}"/>
                </a:ext>
              </a:extLst>
            </p:cNvPr>
            <p:cNvSpPr/>
            <p:nvPr/>
          </p:nvSpPr>
          <p:spPr>
            <a:xfrm>
              <a:off x="9398000" y="2032000"/>
              <a:ext cx="762000" cy="762000"/>
            </a:xfrm>
            <a:prstGeom prst="ellipse">
              <a:avLst/>
            </a:prstGeom>
            <a:solidFill>
              <a:srgbClr val="34495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600" b="1">
                  <a:latin typeface="Segoe UI" panose="020B0502040204020203" pitchFamily="34" charset="0"/>
                </a:rPr>
                <a:t>3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0AFEE844-A92E-3EB2-D6C4-B074B6F430C7}"/>
                </a:ext>
              </a:extLst>
            </p:cNvPr>
            <p:cNvSpPr txBox="1"/>
            <p:nvPr/>
          </p:nvSpPr>
          <p:spPr>
            <a:xfrm>
              <a:off x="8255000" y="2984500"/>
              <a:ext cx="3048000" cy="49244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2600" b="1">
                  <a:solidFill>
                    <a:srgbClr val="34495E"/>
                  </a:solidFill>
                  <a:latin typeface="Segoe UI" panose="020B0502040204020203" pitchFamily="34" charset="0"/>
                </a:rPr>
                <a:t>Encaminhar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2982A105-B3B5-1123-6B12-13636297600D}"/>
                </a:ext>
              </a:extLst>
            </p:cNvPr>
            <p:cNvSpPr txBox="1"/>
            <p:nvPr/>
          </p:nvSpPr>
          <p:spPr>
            <a:xfrm>
              <a:off x="8445500" y="3619500"/>
              <a:ext cx="2667000" cy="87716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pt-PT" sz="1700">
                  <a:solidFill>
                    <a:srgbClr val="2B2B2B"/>
                  </a:solidFill>
                  <a:latin typeface="Segoe UI" panose="020B0502040204020203" pitchFamily="34" charset="0"/>
                </a:rPr>
                <a:t>Responder às necessidades básicas e saber a quem pedir ajuda.</a:t>
              </a:r>
            </a:p>
          </p:txBody>
        </p:sp>
        <p:pic>
          <p:nvPicPr>
            <p:cNvPr id="28" name="Icone_encaminhar" descr="Ícone: Encaminhar">
              <a:extLst>
                <a:ext uri="{FF2B5EF4-FFF2-40B4-BE49-F238E27FC236}">
                  <a16:creationId xmlns:a16="http://schemas.microsoft.com/office/drawing/2014/main" id="{2AD76C45-F5FE-C40F-7CCB-D0637B0AACF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48800" y="4724400"/>
              <a:ext cx="660400" cy="66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144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DAD4FB-FA2E-5FFB-DC60-3DD3ADEDFA95}"/>
              </a:ext>
            </a:extLst>
          </p:cNvPr>
          <p:cNvSpPr txBox="1"/>
          <p:nvPr/>
        </p:nvSpPr>
        <p:spPr>
          <a:xfrm>
            <a:off x="762000" y="635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Em resumo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8D6ED10-ADDF-8735-0496-06EC4691F0E8}"/>
              </a:ext>
            </a:extLst>
          </p:cNvPr>
          <p:cNvSpPr/>
          <p:nvPr/>
        </p:nvSpPr>
        <p:spPr>
          <a:xfrm>
            <a:off x="1778000" y="1778000"/>
            <a:ext cx="8636000" cy="889000"/>
          </a:xfrm>
          <a:prstGeom prst="roundRect">
            <a:avLst/>
          </a:prstGeom>
          <a:solidFill>
            <a:srgbClr val="DCE8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200" b="1">
                <a:solidFill>
                  <a:srgbClr val="2F6DB5"/>
                </a:solidFill>
                <a:latin typeface="Segoe UI" panose="020B0502040204020203" pitchFamily="34" charset="0"/>
              </a:rPr>
              <a:t>A pessoa com demência perde as suas referências.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4953B14-4286-308B-8903-AD3068FAB1A3}"/>
              </a:ext>
            </a:extLst>
          </p:cNvPr>
          <p:cNvSpPr/>
          <p:nvPr/>
        </p:nvSpPr>
        <p:spPr>
          <a:xfrm>
            <a:off x="1778000" y="2921000"/>
            <a:ext cx="8636000" cy="889000"/>
          </a:xfrm>
          <a:prstGeom prst="roundRect">
            <a:avLst/>
          </a:prstGeom>
          <a:solidFill>
            <a:srgbClr val="FBE6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200" b="1">
                <a:solidFill>
                  <a:srgbClr val="E07B2E"/>
                </a:solidFill>
                <a:latin typeface="Segoe UI" panose="020B0502040204020203" pitchFamily="34" charset="0"/>
              </a:rPr>
              <a:t>Quem cuida fica sob pressão.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97B8AD-9136-3D7C-A3DA-A57FCA8AB68B}"/>
              </a:ext>
            </a:extLst>
          </p:cNvPr>
          <p:cNvSpPr txBox="1"/>
          <p:nvPr/>
        </p:nvSpPr>
        <p:spPr>
          <a:xfrm>
            <a:off x="762000" y="4318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>
                <a:solidFill>
                  <a:srgbClr val="34495E"/>
                </a:solidFill>
                <a:latin typeface="Segoe UI" panose="020B0502040204020203" pitchFamily="34" charset="0"/>
              </a:rPr>
              <a:t>Observar  →  Escutar  →  Encaminhar  ajuda os dois.</a:t>
            </a:r>
          </a:p>
        </p:txBody>
      </p:sp>
      <p:pic>
        <p:nvPicPr>
          <p:cNvPr id="6" name="Musica">
            <a:hlinkClick r:id="" action="ppaction://media"/>
            <a:extLst>
              <a:ext uri="{FF2B5EF4-FFF2-40B4-BE49-F238E27FC236}">
                <a16:creationId xmlns:a16="http://schemas.microsoft.com/office/drawing/2014/main" id="{7D2042F7-8F45-8229-520C-4BDB13C920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out="3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4" y="634999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49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5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2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10905A-19EA-ED8C-4261-10EC8A0A4721}"/>
              </a:ext>
            </a:extLst>
          </p:cNvPr>
          <p:cNvSpPr txBox="1"/>
          <p:nvPr/>
        </p:nvSpPr>
        <p:spPr>
          <a:xfrm>
            <a:off x="762000" y="508000"/>
            <a:ext cx="10668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3400" b="1">
                <a:solidFill>
                  <a:srgbClr val="34495E"/>
                </a:solidFill>
                <a:latin typeface="Segoe UI" panose="020B0502040204020203" pitchFamily="34" charset="0"/>
              </a:rPr>
              <a:t>O caminho do curso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669C79E-0923-4F8E-086C-A64CBCDFD81F}"/>
              </a:ext>
            </a:extLst>
          </p:cNvPr>
          <p:cNvSpPr/>
          <p:nvPr/>
        </p:nvSpPr>
        <p:spPr>
          <a:xfrm>
            <a:off x="508000" y="2032000"/>
            <a:ext cx="2032000" cy="2540000"/>
          </a:xfrm>
          <a:prstGeom prst="roundRect">
            <a:avLst/>
          </a:prstGeom>
          <a:solidFill>
            <a:srgbClr val="ECEAE6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9A9A9A"/>
                </a:solidFill>
                <a:latin typeface="Segoe UI" panose="020B0502040204020203" pitchFamily="34" charset="0"/>
              </a:rPr>
              <a:t>L1</a:t>
            </a:r>
          </a:p>
          <a:p>
            <a:pPr algn="ctr"/>
            <a:r>
              <a:rPr lang="pt-PT" sz="1500">
                <a:solidFill>
                  <a:srgbClr val="9A9A9A"/>
                </a:solidFill>
                <a:latin typeface="Segoe UI" panose="020B0502040204020203" pitchFamily="34" charset="0"/>
              </a:rPr>
              <a:t>Crise, demência e quem cuida</a:t>
            </a:r>
          </a:p>
          <a:p>
            <a:pPr algn="ctr"/>
            <a:r>
              <a:rPr lang="pt-PT" sz="1300" i="1">
                <a:solidFill>
                  <a:srgbClr val="9A9A9A"/>
                </a:solidFill>
                <a:latin typeface="Segoe UI" panose="020B0502040204020203" pitchFamily="34" charset="0"/>
              </a:rPr>
              <a:t>Compreender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E7E5E06-6B76-0616-753C-F8867534C54A}"/>
              </a:ext>
            </a:extLst>
          </p:cNvPr>
          <p:cNvSpPr/>
          <p:nvPr/>
        </p:nvSpPr>
        <p:spPr>
          <a:xfrm>
            <a:off x="2794000" y="2032000"/>
            <a:ext cx="2032000" cy="2540000"/>
          </a:xfrm>
          <a:prstGeom prst="roundRect">
            <a:avLst/>
          </a:prstGeom>
          <a:solidFill>
            <a:srgbClr val="34495E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FFFFFF"/>
                </a:solidFill>
                <a:latin typeface="Segoe UI" panose="020B0502040204020203" pitchFamily="34" charset="0"/>
              </a:rPr>
              <a:t>L2</a:t>
            </a:r>
          </a:p>
          <a:p>
            <a:pPr algn="ctr"/>
            <a:r>
              <a:rPr lang="pt-PT" sz="1500">
                <a:solidFill>
                  <a:srgbClr val="FFFFFF"/>
                </a:solidFill>
                <a:latin typeface="Segoe UI" panose="020B0502040204020203" pitchFamily="34" charset="0"/>
              </a:rPr>
              <a:t>Preparar antes</a:t>
            </a:r>
          </a:p>
          <a:p>
            <a:pPr algn="ctr"/>
            <a:r>
              <a:rPr lang="pt-PT" sz="1300" i="1">
                <a:solidFill>
                  <a:srgbClr val="FFFFFF"/>
                </a:solidFill>
                <a:latin typeface="Segoe UI" panose="020B0502040204020203" pitchFamily="34" charset="0"/>
              </a:rPr>
              <a:t>Antes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1C7A64D-C257-902A-48AA-DBBC4F4AE1A3}"/>
              </a:ext>
            </a:extLst>
          </p:cNvPr>
          <p:cNvSpPr/>
          <p:nvPr/>
        </p:nvSpPr>
        <p:spPr>
          <a:xfrm>
            <a:off x="5080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L3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Primeiro contacto: acalmar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5DF8D4B-CD1C-0159-084F-7D9B9E432670}"/>
              </a:ext>
            </a:extLst>
          </p:cNvPr>
          <p:cNvSpPr/>
          <p:nvPr/>
        </p:nvSpPr>
        <p:spPr>
          <a:xfrm>
            <a:off x="7366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L4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Necessidades e encaminhamento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Durante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16B729F-D88B-9AAC-5561-95CF903CDCF9}"/>
              </a:ext>
            </a:extLst>
          </p:cNvPr>
          <p:cNvSpPr/>
          <p:nvPr/>
        </p:nvSpPr>
        <p:spPr>
          <a:xfrm>
            <a:off x="9652000" y="2032000"/>
            <a:ext cx="2032000" cy="25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49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>
                <a:solidFill>
                  <a:srgbClr val="34495E"/>
                </a:solidFill>
                <a:latin typeface="Segoe UI" panose="020B0502040204020203" pitchFamily="34" charset="0"/>
              </a:rPr>
              <a:t>L5</a:t>
            </a:r>
          </a:p>
          <a:p>
            <a:pPr algn="ctr"/>
            <a:r>
              <a:rPr lang="pt-PT" sz="1500">
                <a:solidFill>
                  <a:srgbClr val="34495E"/>
                </a:solidFill>
                <a:latin typeface="Segoe UI" panose="020B0502040204020203" pitchFamily="34" charset="0"/>
              </a:rPr>
              <a:t>Depois da crise</a:t>
            </a:r>
          </a:p>
          <a:p>
            <a:pPr algn="ctr"/>
            <a:r>
              <a:rPr lang="pt-PT" sz="1300" i="1">
                <a:solidFill>
                  <a:srgbClr val="34495E"/>
                </a:solidFill>
                <a:latin typeface="Segoe UI" panose="020B0502040204020203" pitchFamily="34" charset="0"/>
              </a:rPr>
              <a:t>Depois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7E24FFB-CD67-7F65-8787-41749308A764}"/>
              </a:ext>
            </a:extLst>
          </p:cNvPr>
          <p:cNvSpPr txBox="1"/>
          <p:nvPr/>
        </p:nvSpPr>
        <p:spPr>
          <a:xfrm>
            <a:off x="762000" y="5080000"/>
            <a:ext cx="1066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pt-PT" sz="2400" b="1">
                <a:solidFill>
                  <a:srgbClr val="34495E"/>
                </a:solidFill>
                <a:latin typeface="Segoe UI" panose="020B0502040204020203" pitchFamily="34" charset="0"/>
              </a:rPr>
              <a:t>A seguir: L2 · Preparar antes</a:t>
            </a:r>
          </a:p>
        </p:txBody>
      </p:sp>
      <p:sp>
        <p:nvSpPr>
          <p:cNvPr id="9" name="Creditos">
            <a:extLst>
              <a:ext uri="{FF2B5EF4-FFF2-40B4-BE49-F238E27FC236}">
                <a16:creationId xmlns:a16="http://schemas.microsoft.com/office/drawing/2014/main" id="{D0356807-07E2-EBFC-FBF6-E4151012A6B7}"/>
              </a:ext>
            </a:extLst>
          </p:cNvPr>
          <p:cNvSpPr txBox="1"/>
          <p:nvPr/>
        </p:nvSpPr>
        <p:spPr>
          <a:xfrm>
            <a:off x="4064000" y="6350000"/>
            <a:ext cx="736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pt-PT" sz="1100">
                <a:solidFill>
                  <a:srgbClr val="9A9A9A"/>
                </a:solidFill>
                <a:hlinkClick r:id="rId3"/>
              </a:rPr>
              <a:t>People illustrations by Storyset</a:t>
            </a:r>
            <a:r>
              <a:rPr lang="pt-PT" sz="1100">
                <a:solidFill>
                  <a:srgbClr val="9A9A9A"/>
                </a:solidFill>
              </a:rPr>
              <a:t>  ·  Música: «High Class», Benjamin Andrews (Biblioteca de Áudio do YouTube)</a:t>
            </a:r>
          </a:p>
        </p:txBody>
      </p:sp>
    </p:spTree>
    <p:extLst>
      <p:ext uri="{BB962C8B-B14F-4D97-AF65-F5344CB8AC3E}">
        <p14:creationId xmlns:p14="http://schemas.microsoft.com/office/powerpoint/2010/main" val="28363408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Widescreen</PresentationFormat>
  <Paragraphs>82</Paragraphs>
  <Slides>10</Slides>
  <Notes>10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Lopes - BIMMS</dc:creator>
  <cp:lastModifiedBy>Bruno De Abreu Lopes</cp:lastModifiedBy>
  <cp:revision>10</cp:revision>
  <dcterms:created xsi:type="dcterms:W3CDTF">2026-10-15T12:40:30Z</dcterms:created>
  <dcterms:modified xsi:type="dcterms:W3CDTF">2026-10-25T09:24:49Z</dcterms:modified>
</cp:coreProperties>
</file>