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6" r:id="rId11"/>
    <p:sldId id="264" r:id="rId12"/>
    <p:sldId id="265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42" autoAdjust="0"/>
  </p:normalViewPr>
  <p:slideViewPr>
    <p:cSldViewPr snapToGrid="0">
      <p:cViewPr varScale="1">
        <p:scale>
          <a:sx n="58" d="100"/>
          <a:sy n="58" d="100"/>
        </p:scale>
        <p:origin x="11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34405-4A75-4B6A-AF29-9AAF8B487F78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63448-1925-4EA9-81D2-EDE6D8E9D05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39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Diapositivo oculto: não aparece no vídeo exportado. Apagar ou deixar.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8449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PREENCHER: gravar a abertura e confirmar o título final.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107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NARRAÇÃO: A sua tarefa é dizer o que ela precisa, e saber quando já não chega sozinho.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9721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NARRAÇÃO: A D. Rosa e a Ana tiveram de sair de casa. Uma cheia, um incêndio ou uma guerra: o sítio novo é sempre o mesmo. Há ruído, gente desconhecida, uma cama que não é a dela. A D. Rosa pergunta quando vai para casa e olha para a saída. [pausa] Fora de casa, ninguém conhece a sua mãe como você. PREENCHER: gravar narração e, se necessário, som ambiente.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4030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NARRAÇÃO: Não precisa de resolver tudo de uma vez. Comece pela segurança. A D. Rosa precisa de estar acompanhada, de água, de comer, da medicação à hora e de um sítio para descansar. Mesmo aqui, tente manter as horas que ela conhece: as refeições, os comprimidos, o sono. A manta do kit, uma fotografia, a música de que gosta: o que é familiar ajuda. E não a deixe sozinha junto à saída. Num pavilhão, numa ZCAP ou num centro de deslocados, perder-se é fácil. PREENCHER: gravar narração.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0076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NARRAÇÃO: A Ana está cansada, ainda não bebeu água e não sabe a quem pedir ajuda. Dizer isto à equipa não é falhar. Pedir que alguém fique com a D. Rosa enquanto ela descansa faz parte do plano de apoio. Observar, comunicar e encaminhar. Pedir ajuda a tempo também é cuidar. PREENCHER: confirmar composição e gravar narração.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050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NARRAÇÃO A GRAVAR APÓS A CAPTURA: Vamos percorrer o espaço de acolhimento e escolher o melhor sítio para a D. Rosa. No balcão, é aqui que se diz que ela tem demência e se entrega a ficha da pessoa. A casa de banho tem de ficar perto. Junto à saída não. O sítio certo fica longe da porta e do ruído. Na parede, o 112 e o SNS 24. E um canto para a Ana: também ela precisa de água, de sentar-se e de pedir ajuda. PREENCHER: escolher espaço, gravar visita, adicionar etiquetas e substituir o marcador pelo MP4.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52940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NARRAÇÃO: Há três sinais que não se ignoram. Confusão súbita, muito pior do que o habitual: não assuma que é só a demência. Pode ser um problema médico. Queda: veja se está segura. Se perdeu os sentidos ou há uma lesão grave, ligue 112. Recusa de comer ou beber: não force. Se continuar, ou se ela ficar fraca, peça orientação clínica. Emergência: 112. Aconselhamento, se não for urgente: SNS 24. O SNS 24 não substitui o 112. PREENCHER: confirmar ícones e gravar narração.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307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NOTA DE PRODUÇÃO: usar como pré-visualização do cartão de bolso e ligar ao recurso PDF da Aula 15. PREENCHER: confirmar o PDF final do cartão.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307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NARRAÇÃO: A crise passa. Os efeitos ficam. Na próxima lição, o que acontece depois: retomar a rotina e cuidar dos dois. PREENCHER: confirmar numeração da L3 e gravar a ponte para L5.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7307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NOTA DE PRODUÇÃO: configurar o Teste 4 na Udemy com quatro perguntas, uma resposta certa e feedback por opção. Não é necessário publicar este diapositivo como vídeo.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0349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NOTA DE PRODUÇÃO: diapositivo de controlo. PREENCHER: substituir esta nota quando os três vídeos estiverem exportados e a secção 4 estiver testada como aluno.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63448-1925-4EA9-81D2-EDE6D8E9D05F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149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C65D9-07EF-6DB4-FE31-589BC66B2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DB1DB-900E-E90B-361F-5184A2D27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DE46B97-583F-1227-B457-A94060E6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B4533C0-19B9-DBE7-B23E-5C328E2B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574ACA-9E8B-799F-5DAA-4E105327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444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059C-A7BC-3EA9-92B4-587C7A00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2C587BD-9B7F-3AB1-DEDD-4DB2F9702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44FCE83-6909-AD72-D19A-EADCD079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957058E-AC53-CE4E-5023-5E2293CBE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DEBE882-0F17-C538-1DDC-6450DBCF5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134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F6E3A-AE6F-76F7-B73D-8AF21E6D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8C7DCB6-2E33-7671-D4DF-D78F17AAD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E1A1818-4FA9-AF96-8689-FC898682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C248824-0DC3-E876-67F1-056C1886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4A566C8-A6EB-C600-B9D0-B4A5EDE47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456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A5C4B-EF93-E763-0016-BA4196FE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75563FC-33AF-B25A-CA54-FF8C60EC9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237F6E1-FDED-E8A8-2697-002F6268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5726289-8804-2F2D-88B8-7D021A87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69669E8-9A28-9E87-FF1B-2186AA09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146F733-D13D-5780-469C-F4727BCF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667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05054-AE12-173C-A366-69A4343F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4D2256-172F-5E72-2A8A-253C404B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9836782-F334-9EE3-B9FA-6CEE8BEE3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24D8501-2FB3-9C91-636D-C2A9ED50E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0110D4A-DFCF-2CC0-D634-32DB8F9EA3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24C07AAF-AA8B-313C-DE5E-2FA7614E1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445B4AE-88C8-3DF2-2164-86EC3BC4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DCA5A3A-76C6-35A1-7E0E-D995C1E3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086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D533D-AA5B-D07C-CC8F-899F4FDED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AE7C116D-9337-E6D5-87DB-1890454B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DC38219-8285-C8EC-7CC4-8BA837CC6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67ADA4F-20AD-CCA6-09C6-F357E40A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2594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B1253D4-C020-C863-24A6-ADF53CAD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5ECC9E8-597C-C0FF-3CB5-430DCC70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A20D655-F902-7CFF-95D3-22F0F7F5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326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72B6F-9847-E8E1-3E95-EC62CAA8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9C6D6DF-D5DF-8688-992C-E1C415FC0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CDCDD90-1B38-7D64-D5C0-60E54BCB2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78DF158-0E72-E24E-B9A5-9348B656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B5F1ABE-42EC-62DD-9799-2CFB1FFE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6FA4B7D-2CE8-7A0B-04D3-ECD236C19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539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FE29F-6194-C510-9E60-61312DDD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9965E576-F0B3-09A6-E170-C9C3FF2C1C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B48FFC3-6119-F8CB-4805-436C88800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C29C391-4920-7E8B-CCA5-96C23AD7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519DEF8-5585-E861-A205-A4F8B35C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BA5F69E-CBC7-894E-B3C7-F8769568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45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C3E8C-BE00-C739-AF4F-6483D29F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02432FC-9075-8E19-4D64-666E30DB7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84E011-AE47-A029-FE4D-E2B08500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3580606-B7F5-BE0D-6A00-D1C1AD19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29E6FFB-E3E9-3429-9DC3-49059DE13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63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42D8E9-EE29-D51F-1AFF-ECB61E152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2B322A7-C366-6221-8CC5-F07397AE6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9A87E32-B99B-5F99-E7D7-F1768FFC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4CA633-A64B-9897-749B-18079C7A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087368-2F36-229B-BE56-BA6E7A4E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603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CC6B9A2-9717-ABF1-A3D8-49F8EBA4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E5C7534-842A-21AA-E318-4E857255E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FCE2738-7FB7-9127-DFB2-57C1845F7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B7C3F-A6D3-4F5F-B3B9-AF14B0EA8DC6}" type="datetimeFigureOut">
              <a:rPr lang="pt-PT" smtClean="0"/>
              <a:t>27/10/2026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A08F7C9-BD42-681E-E55F-049A9CCF7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570603C-D00B-B0FF-D91A-236D20D39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74A7F-E3CE-4780-AEA3-954E0DC03B85}" type="slidenum">
              <a:rPr lang="pt-PT" smtClean="0"/>
              <a:t>‹#›</a:t>
            </a:fld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AC82E6-0D14-4F02-F6F4-593EDD399D26}"/>
              </a:ext>
            </a:extLst>
          </p:cNvPr>
          <p:cNvSpPr/>
          <p:nvPr userDrawn="1"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EEC9C83-B913-D848-277E-9E27A6D07621}"/>
              </a:ext>
            </a:extLst>
          </p:cNvPr>
          <p:cNvSpPr/>
          <p:nvPr userDrawn="1"/>
        </p:nvSpPr>
        <p:spPr>
          <a:xfrm>
            <a:off x="6096000" y="6705600"/>
            <a:ext cx="6096000" cy="152400"/>
          </a:xfrm>
          <a:prstGeom prst="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69DB8A7-4D2B-1104-6D77-86B95B5A01AC}"/>
              </a:ext>
            </a:extLst>
          </p:cNvPr>
          <p:cNvSpPr txBox="1"/>
          <p:nvPr userDrawn="1"/>
        </p:nvSpPr>
        <p:spPr>
          <a:xfrm>
            <a:off x="304800" y="6350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9A9A9A"/>
                </a:solidFill>
                <a:latin typeface="Segoe UI" panose="020B0502040204020203" pitchFamily="34" charset="0"/>
              </a:rPr>
              <a:t>Cuidar em Crise  ·  LN Título da lição</a:t>
            </a:r>
          </a:p>
        </p:txBody>
      </p:sp>
    </p:spTree>
    <p:extLst>
      <p:ext uri="{BB962C8B-B14F-4D97-AF65-F5344CB8AC3E}">
        <p14:creationId xmlns:p14="http://schemas.microsoft.com/office/powerpoint/2010/main" val="421959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1AC845F-DA2B-0D74-4507-BEA329126BBA}"/>
              </a:ext>
            </a:extLst>
          </p:cNvPr>
          <p:cNvSpPr txBox="1"/>
          <p:nvPr/>
        </p:nvSpPr>
        <p:spPr>
          <a:xfrm>
            <a:off x="508000" y="304800"/>
            <a:ext cx="11176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Modelo comum das lições · Cuidar em Crise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D86FE00-2E4C-A654-3674-7E3634392E6A}"/>
              </a:ext>
            </a:extLst>
          </p:cNvPr>
          <p:cNvSpPr/>
          <p:nvPr/>
        </p:nvSpPr>
        <p:spPr>
          <a:xfrm>
            <a:off x="508000" y="1143000"/>
            <a:ext cx="457200" cy="457200"/>
          </a:xfrm>
          <a:prstGeom prst="rect">
            <a:avLst/>
          </a:prstGeom>
          <a:solidFill>
            <a:srgbClr val="2F6DB5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8CD6E6-434B-09D2-8DAE-7FD2922DFCDA}"/>
              </a:ext>
            </a:extLst>
          </p:cNvPr>
          <p:cNvSpPr txBox="1"/>
          <p:nvPr/>
        </p:nvSpPr>
        <p:spPr>
          <a:xfrm>
            <a:off x="1092200" y="11938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Azul · pessoa com demência  ·  #2F6DB5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BE0BAA-C6A0-BC8B-9CE1-E9AFF88C7CF3}"/>
              </a:ext>
            </a:extLst>
          </p:cNvPr>
          <p:cNvSpPr/>
          <p:nvPr/>
        </p:nvSpPr>
        <p:spPr>
          <a:xfrm>
            <a:off x="508000" y="1752600"/>
            <a:ext cx="457200" cy="457200"/>
          </a:xfrm>
          <a:prstGeom prst="rect">
            <a:avLst/>
          </a:prstGeom>
          <a:solidFill>
            <a:srgbClr val="E07B2E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25B760-D7D8-8DC4-8998-FE1F191E0B92}"/>
              </a:ext>
            </a:extLst>
          </p:cNvPr>
          <p:cNvSpPr txBox="1"/>
          <p:nvPr/>
        </p:nvSpPr>
        <p:spPr>
          <a:xfrm>
            <a:off x="1092200" y="18034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Laranja · cuidador  ·  #E07B2E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17CCC9-715C-27D4-FBBD-258697540DC8}"/>
              </a:ext>
            </a:extLst>
          </p:cNvPr>
          <p:cNvSpPr/>
          <p:nvPr/>
        </p:nvSpPr>
        <p:spPr>
          <a:xfrm>
            <a:off x="508000" y="2362200"/>
            <a:ext cx="457200" cy="457200"/>
          </a:xfrm>
          <a:prstGeom prst="rect">
            <a:avLst/>
          </a:prstGeom>
          <a:solidFill>
            <a:srgbClr val="34495E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220B9B-23DC-27B0-5C31-162ACF160701}"/>
              </a:ext>
            </a:extLst>
          </p:cNvPr>
          <p:cNvSpPr txBox="1"/>
          <p:nvPr/>
        </p:nvSpPr>
        <p:spPr>
          <a:xfrm>
            <a:off x="1092200" y="24130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Azul-escuro · títulos e neutro  ·  #34495E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32C65A-EF7E-6B4D-D225-2390C94F7876}"/>
              </a:ext>
            </a:extLst>
          </p:cNvPr>
          <p:cNvSpPr/>
          <p:nvPr/>
        </p:nvSpPr>
        <p:spPr>
          <a:xfrm>
            <a:off x="508000" y="2971800"/>
            <a:ext cx="457200" cy="457200"/>
          </a:xfrm>
          <a:prstGeom prst="rect">
            <a:avLst/>
          </a:prstGeom>
          <a:solidFill>
            <a:srgbClr val="FAF7F2"/>
          </a:solidFill>
          <a:ln w="19050">
            <a:solidFill>
              <a:srgbClr val="9A9A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851BCB0-B7EE-6ED2-D9C9-F0CF9E6DDD2B}"/>
              </a:ext>
            </a:extLst>
          </p:cNvPr>
          <p:cNvSpPr txBox="1"/>
          <p:nvPr/>
        </p:nvSpPr>
        <p:spPr>
          <a:xfrm>
            <a:off x="1092200" y="3022600"/>
            <a:ext cx="482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Creme · fundo  ·  #FAF7F2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6378B8-8374-ED35-FF1B-A9F6CD3F59F9}"/>
              </a:ext>
            </a:extLst>
          </p:cNvPr>
          <p:cNvSpPr txBox="1"/>
          <p:nvPr/>
        </p:nvSpPr>
        <p:spPr>
          <a:xfrm>
            <a:off x="6350000" y="1143000"/>
            <a:ext cx="5461000" cy="30931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Letra: Segoe UI · títulos 32–40 pt · texto ≥ 18 pt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Rodapé: Ver → Modelo Global de Diapositivos → mudar «LN Título da lição»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Ilustração plana (Storyset/unDraw), recolorida a azul/laranja · guardar a licença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Narração nas notas · Apresentação de Diapositivos → Gravar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Animações «ao clicar» para controlar o ritmo ao gravar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Exportar → Criar um vídeo → Full HD 1080p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pt-PT" sz="1500">
                <a:solidFill>
                  <a:srgbClr val="2B2B2B"/>
                </a:solidFill>
                <a:latin typeface="Segoe UI" panose="020B0502040204020203" pitchFamily="34" charset="0"/>
              </a:rPr>
              <a:t>Tags Matterport: azul = pessoa, laranja = cuidador, título «LN · …»</a:t>
            </a:r>
          </a:p>
        </p:txBody>
      </p:sp>
    </p:spTree>
    <p:extLst>
      <p:ext uri="{BB962C8B-B14F-4D97-AF65-F5344CB8AC3E}">
        <p14:creationId xmlns:p14="http://schemas.microsoft.com/office/powerpoint/2010/main" val="65865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A60B8-7AED-641D-0EA2-1680C6A38071}"/>
              </a:ext>
            </a:extLst>
          </p:cNvPr>
          <p:cNvSpPr txBox="1"/>
          <p:nvPr/>
        </p:nvSpPr>
        <p:spPr>
          <a:xfrm>
            <a:off x="762000" y="1905000"/>
            <a:ext cx="10668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5400" b="1">
                <a:solidFill>
                  <a:srgbClr val="34495E"/>
                </a:solidFill>
                <a:latin typeface="Segoe UI" panose="020B0502040204020203" pitchFamily="34" charset="0"/>
              </a:rPr>
              <a:t>Cuidar em Crise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24EBBA-5D70-8FC6-995D-310E19C4CE91}"/>
              </a:ext>
            </a:extLst>
          </p:cNvPr>
          <p:cNvSpPr txBox="1"/>
          <p:nvPr/>
        </p:nvSpPr>
        <p:spPr>
          <a:xfrm>
            <a:off x="1270000" y="2984500"/>
            <a:ext cx="965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Primeiros socorros psicológicos para cuidadores de pessoas com demência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2B09296-AA00-14AC-F14C-C48CA7A4D98F}"/>
              </a:ext>
            </a:extLst>
          </p:cNvPr>
          <p:cNvSpPr/>
          <p:nvPr/>
        </p:nvSpPr>
        <p:spPr>
          <a:xfrm>
            <a:off x="3429000" y="4191000"/>
            <a:ext cx="5334000" cy="558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>
                <a:solidFill>
                  <a:srgbClr val="FFFFFF"/>
                </a:solidFill>
                <a:latin typeface="Segoe UI" panose="020B0502040204020203" pitchFamily="34" charset="0"/>
              </a:rPr>
              <a:t>Lição 4 · Necessidades e encaminhamento</a:t>
            </a:r>
          </a:p>
        </p:txBody>
      </p:sp>
    </p:spTree>
    <p:extLst>
      <p:ext uri="{BB962C8B-B14F-4D97-AF65-F5344CB8AC3E}">
        <p14:creationId xmlns:p14="http://schemas.microsoft.com/office/powerpoint/2010/main" val="297937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FBE057D-A1BE-BFA0-3ED6-8F9E7FA4D197}"/>
              </a:ext>
            </a:extLst>
          </p:cNvPr>
          <p:cNvSpPr txBox="1"/>
          <p:nvPr/>
        </p:nvSpPr>
        <p:spPr>
          <a:xfrm>
            <a:off x="762000" y="2413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4000" b="1">
                <a:solidFill>
                  <a:srgbClr val="34495E"/>
                </a:solidFill>
                <a:latin typeface="Segoe UI" panose="020B0502040204020203" pitchFamily="34" charset="0"/>
              </a:rPr>
              <a:t>L4 · Necessidades e encaminhamento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7B56D82-837E-F938-92BE-5C59BBFB12EE}"/>
              </a:ext>
            </a:extLst>
          </p:cNvPr>
          <p:cNvSpPr txBox="1"/>
          <p:nvPr/>
        </p:nvSpPr>
        <p:spPr>
          <a:xfrm>
            <a:off x="762000" y="33655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Proteger, comunicar e encaminhar num espaço de acolhimento.</a:t>
            </a:r>
          </a:p>
        </p:txBody>
      </p:sp>
    </p:spTree>
    <p:extLst>
      <p:ext uri="{BB962C8B-B14F-4D97-AF65-F5344CB8AC3E}">
        <p14:creationId xmlns:p14="http://schemas.microsoft.com/office/powerpoint/2010/main" val="393183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A0EE958-006D-16F9-DAA9-361A3996E490}"/>
              </a:ext>
            </a:extLst>
          </p:cNvPr>
          <p:cNvSpPr/>
          <p:nvPr/>
        </p:nvSpPr>
        <p:spPr>
          <a:xfrm>
            <a:off x="762000" y="508000"/>
            <a:ext cx="6604000" cy="5334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9A9A9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i="1">
                <a:solidFill>
                  <a:srgbClr val="9A9A9A"/>
                </a:solidFill>
                <a:latin typeface="Segoe UI" panose="020B0502040204020203" pitchFamily="34" charset="0"/>
              </a:rPr>
              <a:t>[Ilustração: cena da casa da D. Rosa]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454E61-79E8-A20E-A647-C4F914718B84}"/>
              </a:ext>
            </a:extLst>
          </p:cNvPr>
          <p:cNvSpPr txBox="1"/>
          <p:nvPr/>
        </p:nvSpPr>
        <p:spPr>
          <a:xfrm>
            <a:off x="7747000" y="1905000"/>
            <a:ext cx="3937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34495E"/>
                </a:solidFill>
                <a:latin typeface="Segoe UI" panose="020B0502040204020203" pitchFamily="34" charset="0"/>
              </a:rPr>
              <a:t>Fora de casa, ninguém conhece a sua mãe como você.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1FDF64-C7E2-E5FB-F216-D377F03083B2}"/>
              </a:ext>
            </a:extLst>
          </p:cNvPr>
          <p:cNvSpPr/>
          <p:nvPr/>
        </p:nvSpPr>
        <p:spPr>
          <a:xfrm>
            <a:off x="7747000" y="4826000"/>
            <a:ext cx="1651000" cy="457200"/>
          </a:xfrm>
          <a:prstGeom prst="round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solidFill>
                  <a:srgbClr val="FFFFFF"/>
                </a:solidFill>
                <a:latin typeface="Segoe UI" panose="020B0502040204020203" pitchFamily="34" charset="0"/>
              </a:rPr>
              <a:t>D. Rosa · pessoa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FEA1CF1-E9C4-8529-56F5-19DBEE11AE6A}"/>
              </a:ext>
            </a:extLst>
          </p:cNvPr>
          <p:cNvSpPr/>
          <p:nvPr/>
        </p:nvSpPr>
        <p:spPr>
          <a:xfrm>
            <a:off x="9652000" y="4826000"/>
            <a:ext cx="1651000" cy="457200"/>
          </a:xfrm>
          <a:prstGeom prst="round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solidFill>
                  <a:srgbClr val="FFFFFF"/>
                </a:solidFill>
                <a:latin typeface="Segoe UI" panose="020B0502040204020203" pitchFamily="34" charset="0"/>
              </a:rPr>
              <a:t>Ana · cuidadora</a:t>
            </a:r>
          </a:p>
        </p:txBody>
      </p:sp>
    </p:spTree>
    <p:extLst>
      <p:ext uri="{BB962C8B-B14F-4D97-AF65-F5344CB8AC3E}">
        <p14:creationId xmlns:p14="http://schemas.microsoft.com/office/powerpoint/2010/main" val="386192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EE0E13-1131-FD96-7A1F-8B99E7BB1563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21B324-4E87-2A1E-1482-4364997F34DA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A pessoa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3DEF6B1-4BBC-5A6C-CF9A-92C44C9EF414}"/>
              </a:ext>
            </a:extLst>
          </p:cNvPr>
          <p:cNvSpPr/>
          <p:nvPr/>
        </p:nvSpPr>
        <p:spPr>
          <a:xfrm>
            <a:off x="508000" y="1270000"/>
            <a:ext cx="5080000" cy="3302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9A9A9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i="1">
                <a:solidFill>
                  <a:srgbClr val="9A9A9A"/>
                </a:solidFill>
                <a:latin typeface="Segoe UI" panose="020B0502040204020203" pitchFamily="34" charset="0"/>
              </a:rPr>
              <a:t>[Ilustração: personagem]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AB0DBD-B979-3B0C-B0A0-02C8CDF1694C}"/>
              </a:ext>
            </a:extLst>
          </p:cNvPr>
          <p:cNvSpPr txBox="1"/>
          <p:nvPr/>
        </p:nvSpPr>
        <p:spPr>
          <a:xfrm>
            <a:off x="381000" y="4953000"/>
            <a:ext cx="5334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Segurança  ·  água  ·  medicação  ·  descanso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3725BC4-91D2-1364-4C20-075A9020AE16}"/>
              </a:ext>
            </a:extLst>
          </p:cNvPr>
          <p:cNvSpPr/>
          <p:nvPr/>
        </p:nvSpPr>
        <p:spPr>
          <a:xfrm>
            <a:off x="609600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AF621D-AA43-A72E-575D-B88C546D0C33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Quem cuida</a:t>
            </a:r>
          </a:p>
        </p:txBody>
      </p:sp>
    </p:spTree>
    <p:extLst>
      <p:ext uri="{BB962C8B-B14F-4D97-AF65-F5344CB8AC3E}">
        <p14:creationId xmlns:p14="http://schemas.microsoft.com/office/powerpoint/2010/main" val="355494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1A0DFF-107A-7754-3934-89714CB6E31F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D5D90D-BF51-19BA-8C3F-8CEA90DD65DB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D. Rosa · necessidades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0252223-0D5A-57AF-120D-C84BCEAB0516}"/>
              </a:ext>
            </a:extLst>
          </p:cNvPr>
          <p:cNvSpPr/>
          <p:nvPr/>
        </p:nvSpPr>
        <p:spPr>
          <a:xfrm>
            <a:off x="6096000" y="0"/>
            <a:ext cx="6096000" cy="6705600"/>
          </a:xfrm>
          <a:prstGeom prst="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A8C3B2-609A-C9A8-1F27-15CE7B12E329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E07B2E"/>
                </a:solidFill>
                <a:latin typeface="Segoe UI" panose="020B0502040204020203" pitchFamily="34" charset="0"/>
              </a:rPr>
              <a:t>Ana · pedir ajuda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749D3D5-3629-5522-6A40-514509EA6A76}"/>
              </a:ext>
            </a:extLst>
          </p:cNvPr>
          <p:cNvSpPr/>
          <p:nvPr/>
        </p:nvSpPr>
        <p:spPr>
          <a:xfrm>
            <a:off x="6604000" y="1270000"/>
            <a:ext cx="5080000" cy="3302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9A9A9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i="1">
                <a:solidFill>
                  <a:srgbClr val="9A9A9A"/>
                </a:solidFill>
                <a:latin typeface="Segoe UI" panose="020B0502040204020203" pitchFamily="34" charset="0"/>
              </a:rPr>
              <a:t>[Ilustração: personagem]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664687-7503-C8AE-0614-86B482493817}"/>
              </a:ext>
            </a:extLst>
          </p:cNvPr>
          <p:cNvSpPr txBox="1"/>
          <p:nvPr/>
        </p:nvSpPr>
        <p:spPr>
          <a:xfrm>
            <a:off x="6477000" y="4953000"/>
            <a:ext cx="533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Água  ·  rotina  ·  ficha  ·  apoio</a:t>
            </a:r>
          </a:p>
        </p:txBody>
      </p:sp>
    </p:spTree>
    <p:extLst>
      <p:ext uri="{BB962C8B-B14F-4D97-AF65-F5344CB8AC3E}">
        <p14:creationId xmlns:p14="http://schemas.microsoft.com/office/powerpoint/2010/main" val="371450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046A301-0C6E-3EC4-7381-91C2DD87EF3D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Visita 3D · O melhor lugar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963CA37-7ABD-04D5-4FDA-99FF63787B32}"/>
              </a:ext>
            </a:extLst>
          </p:cNvPr>
          <p:cNvSpPr/>
          <p:nvPr/>
        </p:nvSpPr>
        <p:spPr>
          <a:xfrm>
            <a:off x="1397000" y="1397000"/>
            <a:ext cx="939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DB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>
                <a:solidFill>
                  <a:srgbClr val="2F6DB5"/>
                </a:solidFill>
                <a:latin typeface="Segoe UI" panose="020B0502040204020203" pitchFamily="34" charset="0"/>
              </a:rPr>
              <a:t>[PREENCHER NO S6: inserir vídeo Matterport ≈ 60 s]
Balcão · necessidades · saída · zona calma · contactos · canto da Ana</a:t>
            </a:r>
            <a:endParaRPr lang="pt-PT" sz="1600">
              <a:solidFill>
                <a:srgbClr val="2F6DB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8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CDE6F8-9A3F-5718-E1EA-69C347AE8AB6}"/>
              </a:ext>
            </a:extLst>
          </p:cNvPr>
          <p:cNvSpPr txBox="1"/>
          <p:nvPr/>
        </p:nvSpPr>
        <p:spPr>
          <a:xfrm>
            <a:off x="762000" y="381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Sinais de alarme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571022-AC42-EE0E-D08C-F7429428B7DF}"/>
              </a:ext>
            </a:extLst>
          </p:cNvPr>
          <p:cNvSpPr txBox="1"/>
          <p:nvPr/>
        </p:nvSpPr>
        <p:spPr>
          <a:xfrm>
            <a:off x="762000" y="101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Não ignorar uma alteração súbita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DD61C3D-2E22-65B2-6692-80078C05DAD1}"/>
              </a:ext>
            </a:extLst>
          </p:cNvPr>
          <p:cNvGrpSpPr/>
          <p:nvPr/>
        </p:nvGrpSpPr>
        <p:grpSpPr>
          <a:xfrm>
            <a:off x="889000" y="1778000"/>
            <a:ext cx="3048000" cy="3810000"/>
            <a:chOff x="889000" y="1778000"/>
            <a:chExt cx="3048000" cy="3810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02E18311-0C57-3300-2915-F3CF0D6AB028}"/>
                </a:ext>
              </a:extLst>
            </p:cNvPr>
            <p:cNvSpPr/>
            <p:nvPr/>
          </p:nvSpPr>
          <p:spPr>
            <a:xfrm>
              <a:off x="889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6327B1-F986-D0B0-1A69-A9E946968218}"/>
                </a:ext>
              </a:extLst>
            </p:cNvPr>
            <p:cNvSpPr/>
            <p:nvPr/>
          </p:nvSpPr>
          <p:spPr>
            <a:xfrm>
              <a:off x="2032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17D0EBA-250D-743D-DF76-9DBBC8A68BF1}"/>
                </a:ext>
              </a:extLst>
            </p:cNvPr>
            <p:cNvSpPr txBox="1"/>
            <p:nvPr/>
          </p:nvSpPr>
          <p:spPr>
            <a:xfrm>
              <a:off x="889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Confusão súbita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1EEA7BF-4FEA-8736-0388-2321EA24B0E7}"/>
                </a:ext>
              </a:extLst>
            </p:cNvPr>
            <p:cNvSpPr txBox="1"/>
            <p:nvPr/>
          </p:nvSpPr>
          <p:spPr>
            <a:xfrm>
              <a:off x="1079500" y="3619500"/>
              <a:ext cx="2667000" cy="8771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Muito pior do que o habitual: comunicar e procurar avaliação.</a:t>
              </a:r>
            </a:p>
          </p:txBody>
        </p:sp>
      </p:grp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08F13D57-396C-9402-7839-C4C327E2121E}"/>
              </a:ext>
            </a:extLst>
          </p:cNvPr>
          <p:cNvSpPr/>
          <p:nvPr/>
        </p:nvSpPr>
        <p:spPr>
          <a:xfrm>
            <a:off x="3975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B4F072C-8982-16DD-D113-DD4DC8F440A3}"/>
              </a:ext>
            </a:extLst>
          </p:cNvPr>
          <p:cNvGrpSpPr/>
          <p:nvPr/>
        </p:nvGrpSpPr>
        <p:grpSpPr>
          <a:xfrm>
            <a:off x="4572000" y="1778000"/>
            <a:ext cx="3048000" cy="3810000"/>
            <a:chOff x="4572000" y="1778000"/>
            <a:chExt cx="3048000" cy="3810000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2B91080-FDFE-5319-6A22-4A8C1481983F}"/>
                </a:ext>
              </a:extLst>
            </p:cNvPr>
            <p:cNvSpPr/>
            <p:nvPr/>
          </p:nvSpPr>
          <p:spPr>
            <a:xfrm>
              <a:off x="4572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F096C3-C2A9-9901-AB80-9AFA364C41FB}"/>
                </a:ext>
              </a:extLst>
            </p:cNvPr>
            <p:cNvSpPr/>
            <p:nvPr/>
          </p:nvSpPr>
          <p:spPr>
            <a:xfrm>
              <a:off x="5715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6DFE093-891C-DB2B-6F55-72B8C150470D}"/>
                </a:ext>
              </a:extLst>
            </p:cNvPr>
            <p:cNvSpPr txBox="1"/>
            <p:nvPr/>
          </p:nvSpPr>
          <p:spPr>
            <a:xfrm>
              <a:off x="4572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Queda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925F865-BC24-6A58-7FC6-77E8A3BFEE5D}"/>
                </a:ext>
              </a:extLst>
            </p:cNvPr>
            <p:cNvSpPr txBox="1"/>
            <p:nvPr/>
          </p:nvSpPr>
          <p:spPr>
            <a:xfrm>
              <a:off x="4762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 dirty="0">
                  <a:solidFill>
                    <a:srgbClr val="2B2B2B"/>
                  </a:solidFill>
                  <a:latin typeface="Segoe UI" panose="020B0502040204020203" pitchFamily="34" charset="0"/>
                </a:rPr>
                <a:t>Verificar segurança; 112 se houver emergência.</a:t>
              </a:r>
            </a:p>
          </p:txBody>
        </p:sp>
      </p:grp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A593B4B-EC42-A6C6-D5A6-FCA1F0FFC5C5}"/>
              </a:ext>
            </a:extLst>
          </p:cNvPr>
          <p:cNvSpPr/>
          <p:nvPr/>
        </p:nvSpPr>
        <p:spPr>
          <a:xfrm>
            <a:off x="7658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6907F6A-DF65-E25B-7C50-7C610351CC39}"/>
              </a:ext>
            </a:extLst>
          </p:cNvPr>
          <p:cNvGrpSpPr/>
          <p:nvPr/>
        </p:nvGrpSpPr>
        <p:grpSpPr>
          <a:xfrm>
            <a:off x="8255000" y="1778000"/>
            <a:ext cx="3048000" cy="3810000"/>
            <a:chOff x="8255000" y="1778000"/>
            <a:chExt cx="3048000" cy="38100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2B19BD6-2489-750B-F549-E3149B7D369C}"/>
                </a:ext>
              </a:extLst>
            </p:cNvPr>
            <p:cNvSpPr/>
            <p:nvPr/>
          </p:nvSpPr>
          <p:spPr>
            <a:xfrm>
              <a:off x="8255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F624B2-FFD2-6FD2-E09E-67EE444AE575}"/>
                </a:ext>
              </a:extLst>
            </p:cNvPr>
            <p:cNvSpPr/>
            <p:nvPr/>
          </p:nvSpPr>
          <p:spPr>
            <a:xfrm>
              <a:off x="9398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3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76D1719-F887-F000-FA24-D01E3232A915}"/>
                </a:ext>
              </a:extLst>
            </p:cNvPr>
            <p:cNvSpPr txBox="1"/>
            <p:nvPr/>
          </p:nvSpPr>
          <p:spPr>
            <a:xfrm>
              <a:off x="8255000" y="2984500"/>
              <a:ext cx="3048000" cy="89255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 dirty="0">
                  <a:solidFill>
                    <a:srgbClr val="34495E"/>
                  </a:solidFill>
                  <a:latin typeface="Segoe UI" panose="020B0502040204020203" pitchFamily="34" charset="0"/>
                </a:rPr>
                <a:t>Recusa persistente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311BE30-5CF0-2239-C80E-217A0669FAE8}"/>
                </a:ext>
              </a:extLst>
            </p:cNvPr>
            <p:cNvSpPr txBox="1"/>
            <p:nvPr/>
          </p:nvSpPr>
          <p:spPr>
            <a:xfrm>
              <a:off x="8445500" y="4206389"/>
              <a:ext cx="2667000" cy="8771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 dirty="0">
                  <a:solidFill>
                    <a:srgbClr val="2B2B2B"/>
                  </a:solidFill>
                  <a:latin typeface="Segoe UI" panose="020B0502040204020203" pitchFamily="34" charset="0"/>
                </a:rPr>
                <a:t>Não forçar; pedir orientação clínica se continuar.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877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CDE6F8-9A3F-5718-E1EA-69C347AE8AB6}"/>
              </a:ext>
            </a:extLst>
          </p:cNvPr>
          <p:cNvSpPr txBox="1"/>
          <p:nvPr/>
        </p:nvSpPr>
        <p:spPr>
          <a:xfrm>
            <a:off x="762000" y="381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Cartão de bolso · agir sem esquecer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571022-AC42-EE0E-D08C-F7429428B7DF}"/>
              </a:ext>
            </a:extLst>
          </p:cNvPr>
          <p:cNvSpPr txBox="1"/>
          <p:nvPr/>
        </p:nvSpPr>
        <p:spPr>
          <a:xfrm>
            <a:off x="762000" y="101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112 · SNS 24 · equipa do acolhimento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DD61C3D-2E22-65B2-6692-80078C05DAD1}"/>
              </a:ext>
            </a:extLst>
          </p:cNvPr>
          <p:cNvGrpSpPr/>
          <p:nvPr/>
        </p:nvGrpSpPr>
        <p:grpSpPr>
          <a:xfrm>
            <a:off x="889000" y="1778000"/>
            <a:ext cx="3048000" cy="3810000"/>
            <a:chOff x="889000" y="1778000"/>
            <a:chExt cx="3048000" cy="3810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02E18311-0C57-3300-2915-F3CF0D6AB028}"/>
                </a:ext>
              </a:extLst>
            </p:cNvPr>
            <p:cNvSpPr/>
            <p:nvPr/>
          </p:nvSpPr>
          <p:spPr>
            <a:xfrm>
              <a:off x="889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6327B1-F986-D0B0-1A69-A9E946968218}"/>
                </a:ext>
              </a:extLst>
            </p:cNvPr>
            <p:cNvSpPr/>
            <p:nvPr/>
          </p:nvSpPr>
          <p:spPr>
            <a:xfrm>
              <a:off x="2032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17D0EBA-250D-743D-DF76-9DBBC8A68BF1}"/>
                </a:ext>
              </a:extLst>
            </p:cNvPr>
            <p:cNvSpPr txBox="1"/>
            <p:nvPr/>
          </p:nvSpPr>
          <p:spPr>
            <a:xfrm>
              <a:off x="889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Prioridades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1EEA7BF-4FEA-8736-0388-2321EA24B0E7}"/>
                </a:ext>
              </a:extLst>
            </p:cNvPr>
            <p:cNvSpPr txBox="1"/>
            <p:nvPr/>
          </p:nvSpPr>
          <p:spPr>
            <a:xfrm>
              <a:off x="1079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Verificar segurança e necessidades básicas.</a:t>
              </a:r>
            </a:p>
          </p:txBody>
        </p:sp>
      </p:grp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08F13D57-396C-9402-7839-C4C327E2121E}"/>
              </a:ext>
            </a:extLst>
          </p:cNvPr>
          <p:cNvSpPr/>
          <p:nvPr/>
        </p:nvSpPr>
        <p:spPr>
          <a:xfrm>
            <a:off x="3975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B4F072C-8982-16DD-D113-DD4DC8F440A3}"/>
              </a:ext>
            </a:extLst>
          </p:cNvPr>
          <p:cNvGrpSpPr/>
          <p:nvPr/>
        </p:nvGrpSpPr>
        <p:grpSpPr>
          <a:xfrm>
            <a:off x="4572000" y="1778000"/>
            <a:ext cx="3048000" cy="3810000"/>
            <a:chOff x="4572000" y="1778000"/>
            <a:chExt cx="3048000" cy="3810000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2B91080-FDFE-5319-6A22-4A8C1481983F}"/>
                </a:ext>
              </a:extLst>
            </p:cNvPr>
            <p:cNvSpPr/>
            <p:nvPr/>
          </p:nvSpPr>
          <p:spPr>
            <a:xfrm>
              <a:off x="4572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F096C3-C2A9-9901-AB80-9AFA364C41FB}"/>
                </a:ext>
              </a:extLst>
            </p:cNvPr>
            <p:cNvSpPr/>
            <p:nvPr/>
          </p:nvSpPr>
          <p:spPr>
            <a:xfrm>
              <a:off x="5715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6DFE093-891C-DB2B-6F55-72B8C150470D}"/>
                </a:ext>
              </a:extLst>
            </p:cNvPr>
            <p:cNvSpPr txBox="1"/>
            <p:nvPr/>
          </p:nvSpPr>
          <p:spPr>
            <a:xfrm>
              <a:off x="4572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Sinais de alarme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925F865-BC24-6A58-7FC6-77E8A3BFEE5D}"/>
                </a:ext>
              </a:extLst>
            </p:cNvPr>
            <p:cNvSpPr txBox="1"/>
            <p:nvPr/>
          </p:nvSpPr>
          <p:spPr>
            <a:xfrm>
              <a:off x="4762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Procurar avaliação; 112 se for emergência.</a:t>
              </a:r>
            </a:p>
          </p:txBody>
        </p:sp>
      </p:grp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A593B4B-EC42-A6C6-D5A6-FCA1F0FFC5C5}"/>
              </a:ext>
            </a:extLst>
          </p:cNvPr>
          <p:cNvSpPr/>
          <p:nvPr/>
        </p:nvSpPr>
        <p:spPr>
          <a:xfrm>
            <a:off x="7658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6907F6A-DF65-E25B-7C50-7C610351CC39}"/>
              </a:ext>
            </a:extLst>
          </p:cNvPr>
          <p:cNvGrpSpPr/>
          <p:nvPr/>
        </p:nvGrpSpPr>
        <p:grpSpPr>
          <a:xfrm>
            <a:off x="8255000" y="1778000"/>
            <a:ext cx="3048000" cy="3810000"/>
            <a:chOff x="8255000" y="1778000"/>
            <a:chExt cx="3048000" cy="38100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2B19BD6-2489-750B-F549-E3149B7D369C}"/>
                </a:ext>
              </a:extLst>
            </p:cNvPr>
            <p:cNvSpPr/>
            <p:nvPr/>
          </p:nvSpPr>
          <p:spPr>
            <a:xfrm>
              <a:off x="8255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F624B2-FFD2-6FD2-E09E-67EE444AE575}"/>
                </a:ext>
              </a:extLst>
            </p:cNvPr>
            <p:cNvSpPr/>
            <p:nvPr/>
          </p:nvSpPr>
          <p:spPr>
            <a:xfrm>
              <a:off x="9398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3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76D1719-F887-F000-FA24-D01E3232A915}"/>
                </a:ext>
              </a:extLst>
            </p:cNvPr>
            <p:cNvSpPr txBox="1"/>
            <p:nvPr/>
          </p:nvSpPr>
          <p:spPr>
            <a:xfrm>
              <a:off x="8255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Quem cuida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311BE30-5CF0-2239-C80E-217A0669FAE8}"/>
                </a:ext>
              </a:extLst>
            </p:cNvPr>
            <p:cNvSpPr txBox="1"/>
            <p:nvPr/>
          </p:nvSpPr>
          <p:spPr>
            <a:xfrm>
              <a:off x="8445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Comunicar necessidades e aceitar ajuda.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33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CDE6F8-9A3F-5718-E1EA-69C347AE8AB6}"/>
              </a:ext>
            </a:extLst>
          </p:cNvPr>
          <p:cNvSpPr txBox="1"/>
          <p:nvPr/>
        </p:nvSpPr>
        <p:spPr>
          <a:xfrm>
            <a:off x="762000" y="381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Em 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571022-AC42-EE0E-D08C-F7429428B7DF}"/>
              </a:ext>
            </a:extLst>
          </p:cNvPr>
          <p:cNvSpPr txBox="1"/>
          <p:nvPr/>
        </p:nvSpPr>
        <p:spPr>
          <a:xfrm>
            <a:off x="762000" y="101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Para a pessoa: proteger, responder às necessidades e manter a rotina possível.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DD61C3D-2E22-65B2-6692-80078C05DAD1}"/>
              </a:ext>
            </a:extLst>
          </p:cNvPr>
          <p:cNvGrpSpPr/>
          <p:nvPr/>
        </p:nvGrpSpPr>
        <p:grpSpPr>
          <a:xfrm>
            <a:off x="889000" y="1778000"/>
            <a:ext cx="3048000" cy="3810000"/>
            <a:chOff x="889000" y="1778000"/>
            <a:chExt cx="3048000" cy="3810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02E18311-0C57-3300-2915-F3CF0D6AB028}"/>
                </a:ext>
              </a:extLst>
            </p:cNvPr>
            <p:cNvSpPr/>
            <p:nvPr/>
          </p:nvSpPr>
          <p:spPr>
            <a:xfrm>
              <a:off x="889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/>
                <a:t>Para quem cuida: comunicar, aceitar ajuda e encaminhar atempadamente.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B6327B1-F986-D0B0-1A69-A9E946968218}"/>
                </a:ext>
              </a:extLst>
            </p:cNvPr>
            <p:cNvSpPr/>
            <p:nvPr/>
          </p:nvSpPr>
          <p:spPr>
            <a:xfrm>
              <a:off x="2032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 dirty="0">
                  <a:solidFill>
                    <a:srgbClr val="FFFFFF"/>
                  </a:solidFill>
                  <a:latin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A17D0EBA-250D-743D-DF76-9DBBC8A68BF1}"/>
                </a:ext>
              </a:extLst>
            </p:cNvPr>
            <p:cNvSpPr txBox="1"/>
            <p:nvPr/>
          </p:nvSpPr>
          <p:spPr>
            <a:xfrm>
              <a:off x="889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 dirty="0">
                  <a:solidFill>
                    <a:srgbClr val="34495E"/>
                  </a:solidFill>
                  <a:latin typeface="Segoe UI" panose="020B0502040204020203" pitchFamily="34" charset="0"/>
                </a:rPr>
                <a:t>Passo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1EEA7BF-4FEA-8736-0388-2321EA24B0E7}"/>
                </a:ext>
              </a:extLst>
            </p:cNvPr>
            <p:cNvSpPr txBox="1"/>
            <p:nvPr/>
          </p:nvSpPr>
          <p:spPr>
            <a:xfrm>
              <a:off x="1079500" y="3619500"/>
              <a:ext cx="2667000" cy="113877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Para quem cuida: comunicar, aceitar ajuda e encaminhar atempadamente.</a:t>
              </a:r>
            </a:p>
          </p:txBody>
        </p:sp>
      </p:grp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08F13D57-396C-9402-7839-C4C327E2121E}"/>
              </a:ext>
            </a:extLst>
          </p:cNvPr>
          <p:cNvSpPr/>
          <p:nvPr/>
        </p:nvSpPr>
        <p:spPr>
          <a:xfrm>
            <a:off x="3975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Pedir ajuda a tempo também é cuidar.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B4F072C-8982-16DD-D113-DD4DC8F440A3}"/>
              </a:ext>
            </a:extLst>
          </p:cNvPr>
          <p:cNvGrpSpPr/>
          <p:nvPr/>
        </p:nvGrpSpPr>
        <p:grpSpPr>
          <a:xfrm>
            <a:off x="4572000" y="1778000"/>
            <a:ext cx="3048000" cy="3810000"/>
            <a:chOff x="4572000" y="1778000"/>
            <a:chExt cx="3048000" cy="3810000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2B91080-FDFE-5319-6A22-4A8C1481983F}"/>
                </a:ext>
              </a:extLst>
            </p:cNvPr>
            <p:cNvSpPr/>
            <p:nvPr/>
          </p:nvSpPr>
          <p:spPr>
            <a:xfrm>
              <a:off x="4572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F096C3-C2A9-9901-AB80-9AFA364C41FB}"/>
                </a:ext>
              </a:extLst>
            </p:cNvPr>
            <p:cNvSpPr/>
            <p:nvPr/>
          </p:nvSpPr>
          <p:spPr>
            <a:xfrm>
              <a:off x="5715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6DFE093-891C-DB2B-6F55-72B8C150470D}"/>
                </a:ext>
              </a:extLst>
            </p:cNvPr>
            <p:cNvSpPr txBox="1"/>
            <p:nvPr/>
          </p:nvSpPr>
          <p:spPr>
            <a:xfrm>
              <a:off x="4572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Passo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E925F865-BC24-6A58-7FC6-77E8A3BFEE5D}"/>
                </a:ext>
              </a:extLst>
            </p:cNvPr>
            <p:cNvSpPr txBox="1"/>
            <p:nvPr/>
          </p:nvSpPr>
          <p:spPr>
            <a:xfrm>
              <a:off x="4762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Uma ou duas frases curtas.</a:t>
              </a:r>
            </a:p>
          </p:txBody>
        </p:sp>
      </p:grp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DA593B4B-EC42-A6C6-D5A6-FCA1F0FFC5C5}"/>
              </a:ext>
            </a:extLst>
          </p:cNvPr>
          <p:cNvSpPr/>
          <p:nvPr/>
        </p:nvSpPr>
        <p:spPr>
          <a:xfrm>
            <a:off x="7658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6907F6A-DF65-E25B-7C50-7C610351CC39}"/>
              </a:ext>
            </a:extLst>
          </p:cNvPr>
          <p:cNvGrpSpPr/>
          <p:nvPr/>
        </p:nvGrpSpPr>
        <p:grpSpPr>
          <a:xfrm>
            <a:off x="8255000" y="1778000"/>
            <a:ext cx="3048000" cy="3810000"/>
            <a:chOff x="8255000" y="1778000"/>
            <a:chExt cx="3048000" cy="38100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2B19BD6-2489-750B-F549-E3149B7D369C}"/>
                </a:ext>
              </a:extLst>
            </p:cNvPr>
            <p:cNvSpPr/>
            <p:nvPr/>
          </p:nvSpPr>
          <p:spPr>
            <a:xfrm>
              <a:off x="8255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F624B2-FFD2-6FD2-E09E-67EE444AE575}"/>
                </a:ext>
              </a:extLst>
            </p:cNvPr>
            <p:cNvSpPr/>
            <p:nvPr/>
          </p:nvSpPr>
          <p:spPr>
            <a:xfrm>
              <a:off x="9398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solidFill>
                    <a:srgbClr val="FFFFFF"/>
                  </a:solidFill>
                  <a:latin typeface="Segoe UI" panose="020B0502040204020203" pitchFamily="34" charset="0"/>
                </a:rPr>
                <a:t>3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376D1719-F887-F000-FA24-D01E3232A915}"/>
                </a:ext>
              </a:extLst>
            </p:cNvPr>
            <p:cNvSpPr txBox="1"/>
            <p:nvPr/>
          </p:nvSpPr>
          <p:spPr>
            <a:xfrm>
              <a:off x="8255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Passo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311BE30-5CF0-2239-C80E-217A0669FAE8}"/>
                </a:ext>
              </a:extLst>
            </p:cNvPr>
            <p:cNvSpPr txBox="1"/>
            <p:nvPr/>
          </p:nvSpPr>
          <p:spPr>
            <a:xfrm>
              <a:off x="8445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Uma ou duas frases curtas.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42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829D6D9-49C5-F8BB-486B-67F57B098316}"/>
              </a:ext>
            </a:extLst>
          </p:cNvPr>
          <p:cNvSpPr txBox="1"/>
          <p:nvPr/>
        </p:nvSpPr>
        <p:spPr>
          <a:xfrm>
            <a:off x="762000" y="635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Teste 4 · quatro decisões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A42AEC2-929C-4FFE-5E67-8A54458645D4}"/>
              </a:ext>
            </a:extLst>
          </p:cNvPr>
          <p:cNvSpPr/>
          <p:nvPr/>
        </p:nvSpPr>
        <p:spPr>
          <a:xfrm>
            <a:off x="1778000" y="1778000"/>
            <a:ext cx="8636000" cy="889000"/>
          </a:xfrm>
          <a:prstGeom prst="round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200" b="1">
                <a:solidFill>
                  <a:srgbClr val="2F6DB5"/>
                </a:solidFill>
                <a:latin typeface="Segoe UI" panose="020B0502040204020203" pitchFamily="34" charset="0"/>
              </a:rPr>
              <a:t>Segurança · supervisão · avaliação médica · apoio ao cuidador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70663AF-9A24-11AC-5BA9-19F724A3A6F4}"/>
              </a:ext>
            </a:extLst>
          </p:cNvPr>
          <p:cNvSpPr/>
          <p:nvPr/>
        </p:nvSpPr>
        <p:spPr>
          <a:xfrm>
            <a:off x="1778000" y="2921000"/>
            <a:ext cx="8636000" cy="889000"/>
          </a:xfrm>
          <a:prstGeom prst="round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200" b="1">
                <a:solidFill>
                  <a:srgbClr val="E07B2E"/>
                </a:solidFill>
                <a:latin typeface="Segoe UI" panose="020B0502040204020203" pitchFamily="34" charset="0"/>
              </a:rPr>
              <a:t>PREENCHER NA UDEMY: criar as 4 perguntas e o feedback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47A76B-50A2-A3F0-C954-9400452FA9FA}"/>
              </a:ext>
            </a:extLst>
          </p:cNvPr>
          <p:cNvSpPr txBox="1"/>
          <p:nvPr/>
        </p:nvSpPr>
        <p:spPr>
          <a:xfrm>
            <a:off x="762000" y="4318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>
                <a:solidFill>
                  <a:srgbClr val="34495E"/>
                </a:solidFill>
                <a:latin typeface="Segoe UI" panose="020B0502040204020203" pitchFamily="34" charset="0"/>
              </a:rPr>
              <a:t>As respostas esperadas estão no guião da L4.</a:t>
            </a:r>
          </a:p>
        </p:txBody>
      </p:sp>
    </p:spTree>
    <p:extLst>
      <p:ext uri="{BB962C8B-B14F-4D97-AF65-F5344CB8AC3E}">
        <p14:creationId xmlns:p14="http://schemas.microsoft.com/office/powerpoint/2010/main" val="64021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97E0EC2-E6B3-72E0-10CC-22B5F357D892}"/>
              </a:ext>
            </a:extLst>
          </p:cNvPr>
          <p:cNvSpPr txBox="1"/>
          <p:nvPr/>
        </p:nvSpPr>
        <p:spPr>
          <a:xfrm>
            <a:off x="762000" y="508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L4 · pronta para integrar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877154-B11B-A2B8-7969-CEF36DFD6AC9}"/>
              </a:ext>
            </a:extLst>
          </p:cNvPr>
          <p:cNvSpPr/>
          <p:nvPr/>
        </p:nvSpPr>
        <p:spPr>
          <a:xfrm>
            <a:off x="508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 dirty="0">
                <a:solidFill>
                  <a:srgbClr val="34495E"/>
                </a:solidFill>
                <a:latin typeface="Segoe UI" panose="020B0502040204020203" pitchFamily="34" charset="0"/>
              </a:rPr>
              <a:t>L1</a:t>
            </a:r>
          </a:p>
          <a:p>
            <a:pPr algn="ctr"/>
            <a:r>
              <a:rPr lang="pt-PT" sz="1300" i="1" dirty="0">
                <a:solidFill>
                  <a:srgbClr val="34495E"/>
                </a:solidFill>
                <a:latin typeface="Segoe UI" panose="020B0502040204020203" pitchFamily="34" charset="0"/>
              </a:rPr>
              <a:t>Crise, demência e quem cuida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B73A106-A9E9-B151-573F-E7B503A66969}"/>
              </a:ext>
            </a:extLst>
          </p:cNvPr>
          <p:cNvSpPr/>
          <p:nvPr/>
        </p:nvSpPr>
        <p:spPr>
          <a:xfrm>
            <a:off x="2794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 dirty="0">
                <a:solidFill>
                  <a:srgbClr val="34495E"/>
                </a:solidFill>
                <a:latin typeface="Segoe UI" panose="020B0502040204020203" pitchFamily="34" charset="0"/>
              </a:rPr>
              <a:t>L2</a:t>
            </a:r>
          </a:p>
          <a:p>
            <a:pPr algn="ctr"/>
            <a:r>
              <a:rPr lang="pt-PT" sz="1500" dirty="0">
                <a:solidFill>
                  <a:srgbClr val="34495E"/>
                </a:solidFill>
                <a:latin typeface="Segoe UI" panose="020B0502040204020203" pitchFamily="34" charset="0"/>
              </a:rPr>
              <a:t>Preparar antes</a:t>
            </a:r>
          </a:p>
          <a:p>
            <a:pPr algn="ctr"/>
            <a:r>
              <a:rPr lang="pt-PT" sz="1300" i="1" dirty="0">
                <a:solidFill>
                  <a:srgbClr val="34495E"/>
                </a:solidFill>
                <a:latin typeface="Segoe UI" panose="020B0502040204020203" pitchFamily="34" charset="0"/>
              </a:rPr>
              <a:t>Antes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4ACC80A-077E-5756-AD4F-A50D06CDDA1C}"/>
              </a:ext>
            </a:extLst>
          </p:cNvPr>
          <p:cNvSpPr/>
          <p:nvPr/>
        </p:nvSpPr>
        <p:spPr>
          <a:xfrm>
            <a:off x="5080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L3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Primeiro contacto: acalmar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E84FDB9-83B3-E23F-37EB-DDCA4D7DE0A7}"/>
              </a:ext>
            </a:extLst>
          </p:cNvPr>
          <p:cNvSpPr/>
          <p:nvPr/>
        </p:nvSpPr>
        <p:spPr>
          <a:xfrm>
            <a:off x="7366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L4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Necessidades e encaminhamento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09CB0BC-A459-9CA5-0AF8-7D2B49D64847}"/>
              </a:ext>
            </a:extLst>
          </p:cNvPr>
          <p:cNvSpPr/>
          <p:nvPr/>
        </p:nvSpPr>
        <p:spPr>
          <a:xfrm>
            <a:off x="9652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L5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Depois da crise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Depois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D97B23-05FC-A373-3472-9D8A19E1AB5E}"/>
              </a:ext>
            </a:extLst>
          </p:cNvPr>
          <p:cNvSpPr txBox="1"/>
          <p:nvPr/>
        </p:nvSpPr>
        <p:spPr>
          <a:xfrm>
            <a:off x="762000" y="5080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 b="1">
                <a:solidFill>
                  <a:srgbClr val="34495E"/>
                </a:solidFill>
                <a:latin typeface="Segoe UI" panose="020B0502040204020203" pitchFamily="34" charset="0"/>
              </a:rPr>
              <a:t>A seguir: L5 · Depois da crise</a:t>
            </a:r>
          </a:p>
        </p:txBody>
      </p:sp>
    </p:spTree>
    <p:extLst>
      <p:ext uri="{BB962C8B-B14F-4D97-AF65-F5344CB8AC3E}">
        <p14:creationId xmlns:p14="http://schemas.microsoft.com/office/powerpoint/2010/main" val="25349811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1163</Words>
  <Application>Microsoft Office PowerPoint</Application>
  <PresentationFormat>Widescreen</PresentationFormat>
  <Paragraphs>110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Lopes - BIMMS</dc:creator>
  <cp:lastModifiedBy>Ricardo Pereira Ferreira</cp:lastModifiedBy>
  <cp:revision>4</cp:revision>
  <dcterms:created xsi:type="dcterms:W3CDTF">2026-10-15T13:02:25Z</dcterms:created>
  <dcterms:modified xsi:type="dcterms:W3CDTF">2026-10-27T21:19:25Z</dcterms:modified>
</cp:coreProperties>
</file>